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6"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7"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8"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95FD3D5-BBBB-453D-8EEF-B29465008758}"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PlaceHolder 1"/>
          <p:cNvSpPr>
            <a:spLocks noGrp="1" noRot="1" noChangeAspect="1"/>
          </p:cNvSpPr>
          <p:nvPr>
            <p:ph type="sldImg"/>
          </p:nvPr>
        </p:nvSpPr>
        <p:spPr>
          <a:xfrm>
            <a:off x="685800" y="1143000"/>
            <a:ext cx="5486400" cy="3086100"/>
          </a:xfrm>
          <a:prstGeom prst="rect">
            <a:avLst/>
          </a:prstGeom>
          <a:ln w="0">
            <a:noFill/>
          </a:ln>
        </p:spPr>
      </p:sp>
      <p:sp>
        <p:nvSpPr>
          <p:cNvPr id="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85"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598330-E786-4359-8971-AD365A994C1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PlaceHolder 1"/>
          <p:cNvSpPr>
            <a:spLocks noGrp="1" noRot="1" noChangeAspect="1"/>
          </p:cNvSpPr>
          <p:nvPr>
            <p:ph type="sldImg"/>
          </p:nvPr>
        </p:nvSpPr>
        <p:spPr>
          <a:xfrm>
            <a:off x="685800" y="1143000"/>
            <a:ext cx="5486400" cy="3086100"/>
          </a:xfrm>
          <a:prstGeom prst="rect">
            <a:avLst/>
          </a:prstGeom>
          <a:ln w="0">
            <a:noFill/>
          </a:ln>
        </p:spPr>
      </p:sp>
      <p:sp>
        <p:nvSpPr>
          <p:cNvPr id="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88"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8651DD-6CF1-4B7D-9753-6BC981A3FEC8}"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PlaceHolder 1"/>
          <p:cNvSpPr>
            <a:spLocks noGrp="1" noRot="1" noChangeAspect="1"/>
          </p:cNvSpPr>
          <p:nvPr>
            <p:ph type="sldImg"/>
          </p:nvPr>
        </p:nvSpPr>
        <p:spPr>
          <a:xfrm>
            <a:off x="685800" y="1143000"/>
            <a:ext cx="5486400" cy="3086100"/>
          </a:xfrm>
          <a:prstGeom prst="rect">
            <a:avLst/>
          </a:prstGeom>
          <a:ln w="0">
            <a:noFill/>
          </a:ln>
        </p:spPr>
      </p:sp>
      <p:sp>
        <p:nvSpPr>
          <p:cNvPr id="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91"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C0059A9-E470-4055-A780-E280059889B1}"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PlaceHolder 1"/>
          <p:cNvSpPr>
            <a:spLocks noGrp="1" noRot="1" noChangeAspect="1"/>
          </p:cNvSpPr>
          <p:nvPr>
            <p:ph type="sldImg"/>
          </p:nvPr>
        </p:nvSpPr>
        <p:spPr>
          <a:xfrm>
            <a:off x="685800" y="1143000"/>
            <a:ext cx="5486400" cy="3086100"/>
          </a:xfrm>
          <a:prstGeom prst="rect">
            <a:avLst/>
          </a:prstGeom>
          <a:ln w="0">
            <a:noFill/>
          </a:ln>
        </p:spPr>
      </p:sp>
      <p:sp>
        <p:nvSpPr>
          <p:cNvPr id="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94"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C275C03-5955-4C0C-BF8E-6365E65F7DD8}"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PlaceHolder 1"/>
          <p:cNvSpPr>
            <a:spLocks noGrp="1" noRot="1" noChangeAspect="1"/>
          </p:cNvSpPr>
          <p:nvPr>
            <p:ph type="sldImg"/>
          </p:nvPr>
        </p:nvSpPr>
        <p:spPr>
          <a:xfrm>
            <a:off x="685800" y="1143000"/>
            <a:ext cx="5486400" cy="3086100"/>
          </a:xfrm>
          <a:prstGeom prst="rect">
            <a:avLst/>
          </a:prstGeom>
          <a:ln w="0">
            <a:noFill/>
          </a:ln>
        </p:spPr>
      </p:sp>
      <p:sp>
        <p:nvSpPr>
          <p:cNvPr id="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97"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C1FDA4-1023-4D4C-8E85-ED61911BE362}"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PlaceHolder 1"/>
          <p:cNvSpPr>
            <a:spLocks noGrp="1" noRot="1" noChangeAspect="1"/>
          </p:cNvSpPr>
          <p:nvPr>
            <p:ph type="sldImg"/>
          </p:nvPr>
        </p:nvSpPr>
        <p:spPr>
          <a:xfrm>
            <a:off x="685800" y="1143000"/>
            <a:ext cx="5486400" cy="3086100"/>
          </a:xfrm>
          <a:prstGeom prst="rect">
            <a:avLst/>
          </a:prstGeom>
          <a:ln w="0">
            <a:noFill/>
          </a:ln>
        </p:spPr>
      </p:sp>
      <p:sp>
        <p:nvSpPr>
          <p:cNvPr id="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00"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4C34D3-D731-4A19-966E-C9C053A41FB7}"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PlaceHolder 1"/>
          <p:cNvSpPr>
            <a:spLocks noGrp="1" noRot="1" noChangeAspect="1"/>
          </p:cNvSpPr>
          <p:nvPr>
            <p:ph type="sldImg"/>
          </p:nvPr>
        </p:nvSpPr>
        <p:spPr>
          <a:xfrm>
            <a:off x="685800" y="1143000"/>
            <a:ext cx="5486400" cy="3086100"/>
          </a:xfrm>
          <a:prstGeom prst="rect">
            <a:avLst/>
          </a:prstGeom>
          <a:ln w="0">
            <a:noFill/>
          </a:ln>
        </p:spPr>
      </p:sp>
      <p:sp>
        <p:nvSpPr>
          <p:cNvPr id="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03"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136531-D49E-4E01-85E1-102F5CD73098}"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PlaceHolder 1"/>
          <p:cNvSpPr>
            <a:spLocks noGrp="1" noRot="1" noChangeAspect="1"/>
          </p:cNvSpPr>
          <p:nvPr>
            <p:ph type="sldImg"/>
          </p:nvPr>
        </p:nvSpPr>
        <p:spPr>
          <a:xfrm>
            <a:off x="685800" y="1143000"/>
            <a:ext cx="5486400" cy="3086100"/>
          </a:xfrm>
          <a:prstGeom prst="rect">
            <a:avLst/>
          </a:prstGeom>
          <a:ln w="0">
            <a:noFill/>
          </a:ln>
        </p:spPr>
      </p:sp>
      <p:sp>
        <p:nvSpPr>
          <p:cNvPr id="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06"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C3CA9DB-5D6F-4435-9FF6-2702C7A9AFB1}"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PlaceHolder 1"/>
          <p:cNvSpPr>
            <a:spLocks noGrp="1" noRot="1" noChangeAspect="1"/>
          </p:cNvSpPr>
          <p:nvPr>
            <p:ph type="sldImg"/>
          </p:nvPr>
        </p:nvSpPr>
        <p:spPr>
          <a:xfrm>
            <a:off x="685800" y="1143000"/>
            <a:ext cx="5486400" cy="3086100"/>
          </a:xfrm>
          <a:prstGeom prst="rect">
            <a:avLst/>
          </a:prstGeom>
          <a:ln w="0">
            <a:noFill/>
          </a:ln>
        </p:spPr>
      </p:sp>
      <p:sp>
        <p:nvSpPr>
          <p:cNvPr id="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09"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1522E7-22BB-46A1-B414-2A238AD22C1A}"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PlaceHolder 1"/>
          <p:cNvSpPr>
            <a:spLocks noGrp="1" noRot="1" noChangeAspect="1"/>
          </p:cNvSpPr>
          <p:nvPr>
            <p:ph type="sldImg"/>
          </p:nvPr>
        </p:nvSpPr>
        <p:spPr>
          <a:xfrm>
            <a:off x="685800" y="1143000"/>
            <a:ext cx="5486400" cy="3086100"/>
          </a:xfrm>
          <a:prstGeom prst="rect">
            <a:avLst/>
          </a:prstGeom>
          <a:ln w="0">
            <a:noFill/>
          </a:ln>
        </p:spPr>
      </p:sp>
      <p:sp>
        <p:nvSpPr>
          <p:cNvPr id="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12"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B44663E-25E6-4E36-B84D-829DF32C30B6}"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PlaceHolder 1"/>
          <p:cNvSpPr>
            <a:spLocks noGrp="1" noRot="1" noChangeAspect="1"/>
          </p:cNvSpPr>
          <p:nvPr>
            <p:ph type="sldImg"/>
          </p:nvPr>
        </p:nvSpPr>
        <p:spPr>
          <a:xfrm>
            <a:off x="685800" y="1143000"/>
            <a:ext cx="5486400" cy="3086100"/>
          </a:xfrm>
          <a:prstGeom prst="rect">
            <a:avLst/>
          </a:prstGeom>
          <a:ln w="0">
            <a:noFill/>
          </a:ln>
        </p:spPr>
      </p:sp>
      <p:sp>
        <p:nvSpPr>
          <p:cNvPr id="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15"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B7F6DA-3AA1-4128-A825-8BFCE14F2876}"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PlaceHolder 1"/>
          <p:cNvSpPr>
            <a:spLocks noGrp="1" noRot="1" noChangeAspect="1"/>
          </p:cNvSpPr>
          <p:nvPr>
            <p:ph type="sldImg"/>
          </p:nvPr>
        </p:nvSpPr>
        <p:spPr>
          <a:xfrm>
            <a:off x="685800" y="1143000"/>
            <a:ext cx="5486400" cy="3086100"/>
          </a:xfrm>
          <a:prstGeom prst="rect">
            <a:avLst/>
          </a:prstGeom>
          <a:ln w="0">
            <a:noFill/>
          </a:ln>
        </p:spPr>
      </p:sp>
      <p:sp>
        <p:nvSpPr>
          <p:cNvPr id="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18"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A581A78-0A03-4EAB-9858-CAEBFD4CD3DC}"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PlaceHolder 1"/>
          <p:cNvSpPr>
            <a:spLocks noGrp="1" noRot="1" noChangeAspect="1"/>
          </p:cNvSpPr>
          <p:nvPr>
            <p:ph type="sldImg"/>
          </p:nvPr>
        </p:nvSpPr>
        <p:spPr>
          <a:xfrm>
            <a:off x="685800" y="1143000"/>
            <a:ext cx="5486400" cy="3086100"/>
          </a:xfrm>
          <a:prstGeom prst="rect">
            <a:avLst/>
          </a:prstGeom>
          <a:ln w="0">
            <a:noFill/>
          </a:ln>
        </p:spPr>
      </p:sp>
      <p:sp>
        <p:nvSpPr>
          <p:cNvPr id="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21"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8BDF6FB-B60A-4D6D-A3D5-A699B3780FA3}"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PlaceHolder 1"/>
          <p:cNvSpPr>
            <a:spLocks noGrp="1" noRot="1" noChangeAspect="1"/>
          </p:cNvSpPr>
          <p:nvPr>
            <p:ph type="sldImg"/>
          </p:nvPr>
        </p:nvSpPr>
        <p:spPr>
          <a:xfrm>
            <a:off x="685800" y="1143000"/>
            <a:ext cx="5486400" cy="308610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24"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26FBCF-A87A-4B39-B2D9-93CA9A660CF9}"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PlaceHolder 1"/>
          <p:cNvSpPr>
            <a:spLocks noGrp="1" noRot="1" noChangeAspect="1"/>
          </p:cNvSpPr>
          <p:nvPr>
            <p:ph type="sldImg"/>
          </p:nvPr>
        </p:nvSpPr>
        <p:spPr>
          <a:xfrm>
            <a:off x="685800" y="1143000"/>
            <a:ext cx="5486400" cy="308610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27"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E29012-0193-435E-8E45-A0FB9DB22614}"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PlaceHolder 1"/>
          <p:cNvSpPr>
            <a:spLocks noGrp="1" noRot="1" noChangeAspect="1"/>
          </p:cNvSpPr>
          <p:nvPr>
            <p:ph type="sldImg"/>
          </p:nvPr>
        </p:nvSpPr>
        <p:spPr>
          <a:xfrm>
            <a:off x="685800" y="1143000"/>
            <a:ext cx="5486400" cy="3086100"/>
          </a:xfrm>
          <a:prstGeom prst="rect">
            <a:avLst/>
          </a:prstGeom>
          <a:ln w="0">
            <a:noFill/>
          </a:ln>
        </p:spPr>
      </p:sp>
      <p:sp>
        <p:nvSpPr>
          <p:cNvPr id="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30"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D200880-4BCC-489D-8AF3-B772D9F26EBD}"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6FAFF"/>
        </a:solidFill>
        <a:effectLst/>
      </p:bgPr>
    </p:bg>
    <p:spTree>
      <p:nvGrpSpPr>
        <p:cNvPr id="1" name=""/>
        <p:cNvGrpSpPr/>
        <p:nvPr/>
      </p:nvGrpSpPr>
      <p:grpSpPr>
        <a:xfrm>
          <a:off x="0" y="0"/>
          <a:ext cx="0" cy="0"/>
          <a:chOff x="0" y="0"/>
          <a:chExt cx="0" cy="0"/>
        </a:xfrm>
      </p:grpSpPr>
      <p:sp>
        <p:nvSpPr>
          <p:cNvPr id="3" name="PlaceHolder 1"/>
          <p:cNvSpPr>
            <a:spLocks noGrp="1"/>
          </p:cNvSpPr>
          <p:nvPr>
            <p:ph type="sldNum" idx="1"/>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B0504651-F2BD-4FE8-A3B5-BA7D3E9B81CF}" type="slidenum">
              <a:rPr lang="en-US" sz="800" b="0" u="none" strike="noStrike">
                <a:solidFill>
                  <a:srgbClr val="8392A5"/>
                </a:solidFill>
                <a:effectLst/>
                <a:uFillTx/>
                <a:latin typeface="Arial"/>
                <a:ea typeface="Arial"/>
              </a:rPr>
              <a:t>‹#›</a:t>
            </a:fld>
            <a:endParaRPr lang="en-US" sz="800" b="0" u="none" strike="noStrike">
              <a:solidFill>
                <a:srgbClr val="000000"/>
              </a:solidFill>
              <a:effectLst/>
              <a:uFillTx/>
              <a:latin typeface="Times New Roman"/>
            </a:endParaRPr>
          </a:p>
        </p:txBody>
      </p:sp>
      <p:sp>
        <p:nvSpPr>
          <p:cNvPr id="4" name="PlaceHolder 2"/>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2" name="PlaceHolder 3"/>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drive.google.com/file/d/1PNPgLhUp3ZDONjZ7nx--ox5oB2RpmYxp/view?usp=drive_lin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E59"/>
        </a:solidFill>
        <a:effectLst/>
      </p:bgPr>
    </p:bg>
    <p:spTree>
      <p:nvGrpSpPr>
        <p:cNvPr id="1" name=""/>
        <p:cNvGrpSpPr/>
        <p:nvPr/>
      </p:nvGrpSpPr>
      <p:grpSpPr>
        <a:xfrm>
          <a:off x="0" y="0"/>
          <a:ext cx="0" cy="0"/>
          <a:chOff x="0" y="0"/>
          <a:chExt cx="0" cy="0"/>
        </a:xfrm>
      </p:grpSpPr>
      <p:sp>
        <p:nvSpPr>
          <p:cNvPr id="9" name="Shape 0"/>
          <p:cNvSpPr/>
          <p:nvPr/>
        </p:nvSpPr>
        <p:spPr>
          <a:xfrm>
            <a:off x="0" y="0"/>
            <a:ext cx="12191400" cy="6857640"/>
          </a:xfrm>
          <a:prstGeom prst="rect">
            <a:avLst/>
          </a:prstGeom>
          <a:solidFill>
            <a:srgbClr val="0B2E59"/>
          </a:solidFill>
          <a:ln w="12700">
            <a:solidFill>
              <a:srgbClr val="0B2E59">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 name="Shape 1"/>
          <p:cNvSpPr/>
          <p:nvPr/>
        </p:nvSpPr>
        <p:spPr>
          <a:xfrm>
            <a:off x="0" y="0"/>
            <a:ext cx="164160" cy="6857640"/>
          </a:xfrm>
          <a:prstGeom prst="rect">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Shape 2"/>
          <p:cNvSpPr/>
          <p:nvPr/>
        </p:nvSpPr>
        <p:spPr>
          <a:xfrm>
            <a:off x="12027240" y="0"/>
            <a:ext cx="164160" cy="6857640"/>
          </a:xfrm>
          <a:prstGeom prst="rect">
            <a:avLst/>
          </a:prstGeom>
          <a:solidFill>
            <a:srgbClr val="F58220"/>
          </a:solidFill>
          <a:ln w="12700">
            <a:solidFill>
              <a:srgbClr val="F58220">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2" name="Image 0" descr="/mnt/data/home_banner_crop.png"/>
          <p:cNvPicPr/>
          <p:nvPr/>
        </p:nvPicPr>
        <p:blipFill>
          <a:blip r:embed="rId3"/>
          <a:stretch/>
        </p:blipFill>
        <p:spPr>
          <a:xfrm>
            <a:off x="6583680" y="1215000"/>
            <a:ext cx="4891680" cy="2187720"/>
          </a:xfrm>
          <a:prstGeom prst="rect">
            <a:avLst/>
          </a:prstGeom>
          <a:noFill/>
          <a:ln w="0">
            <a:noFill/>
          </a:ln>
        </p:spPr>
      </p:pic>
      <p:sp>
        <p:nvSpPr>
          <p:cNvPr id="13" name="Shape 3"/>
          <p:cNvSpPr/>
          <p:nvPr/>
        </p:nvSpPr>
        <p:spPr>
          <a:xfrm>
            <a:off x="6583680" y="3822120"/>
            <a:ext cx="4891680" cy="109440"/>
          </a:xfrm>
          <a:prstGeom prst="rect">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 name="Image 1" descr="/mnt/data/joomla_report_work/tvu_logo.png"/>
          <p:cNvPicPr/>
          <p:nvPr/>
        </p:nvPicPr>
        <p:blipFill>
          <a:blip r:embed="rId4"/>
          <a:stretch/>
        </p:blipFill>
        <p:spPr>
          <a:xfrm>
            <a:off x="567000" y="420480"/>
            <a:ext cx="822600" cy="822600"/>
          </a:xfrm>
          <a:prstGeom prst="rect">
            <a:avLst/>
          </a:prstGeom>
          <a:noFill/>
          <a:ln w="0">
            <a:noFill/>
          </a:ln>
        </p:spPr>
      </p:pic>
      <p:sp>
        <p:nvSpPr>
          <p:cNvPr id="15" name="Text 4"/>
          <p:cNvSpPr/>
          <p:nvPr/>
        </p:nvSpPr>
        <p:spPr>
          <a:xfrm>
            <a:off x="685800" y="1481400"/>
            <a:ext cx="5257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3100" b="1" u="none" strike="noStrike">
                <a:solidFill>
                  <a:srgbClr val="FFFFFF"/>
                </a:solidFill>
                <a:effectLst/>
                <a:uFillTx/>
                <a:latin typeface="Arial"/>
                <a:ea typeface="Arial"/>
              </a:rPr>
              <a:t>TÌM HIỂU CMS JOOMLA</a:t>
            </a:r>
            <a:endParaRPr lang="en-US" sz="3100" b="0" u="none" strike="noStrike">
              <a:solidFill>
                <a:srgbClr val="FFFFFF"/>
              </a:solidFill>
              <a:effectLst/>
              <a:uFillTx/>
              <a:latin typeface="Arial"/>
            </a:endParaRPr>
          </a:p>
        </p:txBody>
      </p:sp>
      <p:sp>
        <p:nvSpPr>
          <p:cNvPr id="16" name="Text 5"/>
          <p:cNvSpPr/>
          <p:nvPr/>
        </p:nvSpPr>
        <p:spPr>
          <a:xfrm>
            <a:off x="685800" y="2030040"/>
            <a:ext cx="53946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defTabSz="914400">
              <a:lnSpc>
                <a:spcPct val="100000"/>
              </a:lnSpc>
              <a:tabLst>
                <a:tab pos="0" algn="l"/>
              </a:tabLst>
            </a:pPr>
            <a:r>
              <a:rPr lang="en-US" sz="2200" b="1" u="none" strike="noStrike">
                <a:solidFill>
                  <a:srgbClr val="DCEBFF"/>
                </a:solidFill>
                <a:effectLst/>
                <a:uFillTx/>
                <a:latin typeface="Arial"/>
                <a:ea typeface="Arial"/>
              </a:rPr>
              <a:t>VÀ THIẾT KẾ WEBSITE GIỚI THIỆU THÔNG TIN</a:t>
            </a:r>
            <a:endParaRPr lang="en-US" sz="2200" b="0" u="none" strike="noStrike">
              <a:solidFill>
                <a:srgbClr val="FFFFFF"/>
              </a:solidFill>
              <a:effectLst/>
              <a:uFillTx/>
              <a:latin typeface="Arial"/>
            </a:endParaRPr>
          </a:p>
          <a:p>
            <a:pPr defTabSz="914400">
              <a:lnSpc>
                <a:spcPct val="100000"/>
              </a:lnSpc>
              <a:tabLst>
                <a:tab pos="0" algn="l"/>
              </a:tabLst>
            </a:pPr>
            <a:r>
              <a:rPr lang="en-US" sz="2200" b="1" u="none" strike="noStrike">
                <a:solidFill>
                  <a:srgbClr val="DCEBFF"/>
                </a:solidFill>
                <a:effectLst/>
                <a:uFillTx/>
                <a:latin typeface="Arial"/>
                <a:ea typeface="Arial"/>
              </a:rPr>
              <a:t>TRUNG TÂM GIỚI THIỆU VIỆC LÀM</a:t>
            </a:r>
            <a:endParaRPr lang="en-US" sz="2200" b="0" u="none" strike="noStrike">
              <a:solidFill>
                <a:srgbClr val="FFFFFF"/>
              </a:solidFill>
              <a:effectLst/>
              <a:uFillTx/>
              <a:latin typeface="Arial"/>
            </a:endParaRPr>
          </a:p>
        </p:txBody>
      </p:sp>
      <p:sp>
        <p:nvSpPr>
          <p:cNvPr id="17" name="Shape 6"/>
          <p:cNvSpPr/>
          <p:nvPr/>
        </p:nvSpPr>
        <p:spPr>
          <a:xfrm>
            <a:off x="713160" y="3255120"/>
            <a:ext cx="2560320" cy="360"/>
          </a:xfrm>
          <a:prstGeom prst="line">
            <a:avLst/>
          </a:prstGeom>
          <a:ln w="5080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8" name="Text 7"/>
          <p:cNvSpPr/>
          <p:nvPr/>
        </p:nvSpPr>
        <p:spPr>
          <a:xfrm>
            <a:off x="713160" y="3703320"/>
            <a:ext cx="530316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60" b="0" u="none" strike="noStrike">
                <a:solidFill>
                  <a:srgbClr val="DCEBFF"/>
                </a:solidFill>
                <a:effectLst/>
                <a:uFillTx/>
                <a:latin typeface="Arial"/>
                <a:ea typeface="Arial"/>
              </a:rPr>
              <a:t>Sinh viên: Lê Thị Như  ·  MSSV: 170124876  ·  Lớp: DX24TT8</a:t>
            </a:r>
            <a:endParaRPr lang="en-US" sz="1260" b="0" u="none" strike="noStrike">
              <a:solidFill>
                <a:srgbClr val="FFFFFF"/>
              </a:solidFill>
              <a:effectLst/>
              <a:uFillTx/>
              <a:latin typeface="Arial"/>
            </a:endParaRPr>
          </a:p>
          <a:p>
            <a:pPr defTabSz="914400">
              <a:lnSpc>
                <a:spcPct val="100000"/>
              </a:lnSpc>
              <a:tabLst>
                <a:tab pos="0" algn="l"/>
              </a:tabLst>
            </a:pPr>
            <a:r>
              <a:rPr lang="en-US" sz="1260" b="0" u="none" strike="noStrike">
                <a:solidFill>
                  <a:srgbClr val="DCEBFF"/>
                </a:solidFill>
                <a:effectLst/>
                <a:uFillTx/>
                <a:latin typeface="Arial"/>
                <a:ea typeface="Arial"/>
              </a:rPr>
              <a:t>GVHD: ThS. Nguyễn Hoàng Duy Thiện</a:t>
            </a:r>
            <a:endParaRPr lang="en-US" sz="1260" b="0" u="none" strike="noStrike">
              <a:solidFill>
                <a:srgbClr val="FFFFFF"/>
              </a:solidFill>
              <a:effectLst/>
              <a:uFillTx/>
              <a:latin typeface="Arial"/>
            </a:endParaRPr>
          </a:p>
          <a:p>
            <a:pPr defTabSz="914400">
              <a:lnSpc>
                <a:spcPct val="100000"/>
              </a:lnSpc>
              <a:tabLst>
                <a:tab pos="0" algn="l"/>
              </a:tabLst>
            </a:pPr>
            <a:r>
              <a:rPr lang="en-US" sz="1260" b="0" u="none" strike="noStrike">
                <a:solidFill>
                  <a:srgbClr val="DCEBFF"/>
                </a:solidFill>
                <a:effectLst/>
                <a:uFillTx/>
                <a:latin typeface="Arial"/>
                <a:ea typeface="Arial"/>
              </a:rPr>
              <a:t>Đại học Trà Vinh · 2026</a:t>
            </a:r>
            <a:endParaRPr lang="en-US" sz="1260" b="0" u="none" strike="noStrike">
              <a:solidFill>
                <a:srgbClr val="FFFFFF"/>
              </a:solidFill>
              <a:effectLst/>
              <a:uFillTx/>
              <a:latin typeface="Arial"/>
            </a:endParaRPr>
          </a:p>
        </p:txBody>
      </p:sp>
      <p:sp>
        <p:nvSpPr>
          <p:cNvPr id="19" name="Shape 8"/>
          <p:cNvSpPr/>
          <p:nvPr/>
        </p:nvSpPr>
        <p:spPr>
          <a:xfrm>
            <a:off x="713160" y="4983480"/>
            <a:ext cx="2742840" cy="502560"/>
          </a:xfrm>
          <a:prstGeom prst="roundRect">
            <a:avLst>
              <a:gd name="adj" fmla="val 14545"/>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 name="Text 9"/>
          <p:cNvSpPr/>
          <p:nvPr/>
        </p:nvSpPr>
        <p:spPr>
          <a:xfrm>
            <a:off x="822960" y="5056560"/>
            <a:ext cx="25232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1" u="none" strike="noStrike">
                <a:solidFill>
                  <a:srgbClr val="0B2E59"/>
                </a:solidFill>
                <a:effectLst/>
                <a:uFillTx/>
                <a:latin typeface="Arial"/>
                <a:ea typeface="Arial"/>
              </a:rPr>
              <a:t>Website Joomla chạy local bằng XAMPP</a:t>
            </a:r>
            <a:endParaRPr lang="en-US" sz="1150" b="0" u="none" strike="noStrike">
              <a:solidFill>
                <a:srgbClr val="FFFFFF"/>
              </a:solidFill>
              <a:effectLst/>
              <a:uFillTx/>
              <a:latin typeface="Arial"/>
            </a:endParaRPr>
          </a:p>
        </p:txBody>
      </p:sp>
      <p:sp>
        <p:nvSpPr>
          <p:cNvPr id="21" name="Shape 10"/>
          <p:cNvSpPr/>
          <p:nvPr/>
        </p:nvSpPr>
        <p:spPr>
          <a:xfrm>
            <a:off x="3611880" y="4983480"/>
            <a:ext cx="2742840" cy="502560"/>
          </a:xfrm>
          <a:prstGeom prst="roundRect">
            <a:avLst>
              <a:gd name="adj" fmla="val 14545"/>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 name="Text 11"/>
          <p:cNvSpPr/>
          <p:nvPr/>
        </p:nvSpPr>
        <p:spPr>
          <a:xfrm>
            <a:off x="3721680" y="5056560"/>
            <a:ext cx="25232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1" u="none" strike="noStrike">
                <a:solidFill>
                  <a:srgbClr val="0B2E59"/>
                </a:solidFill>
                <a:effectLst/>
                <a:uFillTx/>
                <a:latin typeface="Arial"/>
                <a:ea typeface="Arial"/>
              </a:rPr>
              <a:t>Có tìm kiếm · lọc ngành · quản trị nội dung</a:t>
            </a:r>
            <a:endParaRPr lang="en-US" sz="1150" b="0" u="none" strike="noStrike">
              <a:solidFill>
                <a:srgbClr val="FFFFFF"/>
              </a:solidFill>
              <a:effectLst/>
              <a:uFillTx/>
              <a:latin typeface="Arial"/>
            </a:endParaRPr>
          </a:p>
        </p:txBody>
      </p:sp>
      <p:sp>
        <p:nvSpPr>
          <p:cNvPr id="23" name="PlaceHolder 1"/>
          <p:cNvSpPr>
            <a:spLocks noGrp="1"/>
          </p:cNvSpPr>
          <p:nvPr>
            <p:ph type="sldNum" idx="5"/>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76B81213-61F6-4D5C-8827-85A7AA960939}" type="slidenum">
              <a:rPr lang="en-US" sz="800" b="0" u="none" strike="noStrike">
                <a:solidFill>
                  <a:srgbClr val="8392A5"/>
                </a:solidFill>
                <a:effectLst/>
                <a:uFillTx/>
                <a:latin typeface="Arial"/>
                <a:ea typeface="Arial"/>
              </a:rPr>
              <a:t>1</a:t>
            </a:fld>
            <a:endParaRPr lang="en-US" sz="800" b="0" u="none" strike="noStrike">
              <a:solidFill>
                <a:srgbClr val="FFFFFF"/>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31833"/>
    </mc:Choice>
    <mc:Fallback xmlns="">
      <p:transition spd="slow" advTm="318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24"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NỘI DUNG</a:t>
            </a:r>
            <a:endParaRPr lang="en-US" sz="880" b="0" u="none" strike="noStrike">
              <a:solidFill>
                <a:srgbClr val="000000"/>
              </a:solidFill>
              <a:effectLst/>
              <a:uFillTx/>
              <a:latin typeface="Arial"/>
            </a:endParaRPr>
          </a:p>
        </p:txBody>
      </p:sp>
      <p:sp>
        <p:nvSpPr>
          <p:cNvPr id="26"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Cấu trúc bài thuyết trình</a:t>
            </a:r>
            <a:endParaRPr lang="en-US" sz="2800" b="0" u="none" strike="noStrike">
              <a:solidFill>
                <a:srgbClr val="000000"/>
              </a:solidFill>
              <a:effectLst/>
              <a:uFillTx/>
              <a:latin typeface="Arial"/>
            </a:endParaRPr>
          </a:p>
        </p:txBody>
      </p:sp>
      <p:sp>
        <p:nvSpPr>
          <p:cNvPr id="27"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16 slide bám theo báo cáo đồ án và website đã xây dựng</a:t>
            </a:r>
            <a:endParaRPr lang="en-US" sz="1050" b="0" u="none" strike="noStrike">
              <a:solidFill>
                <a:srgbClr val="000000"/>
              </a:solidFill>
              <a:effectLst/>
              <a:uFillTx/>
              <a:latin typeface="Arial"/>
            </a:endParaRPr>
          </a:p>
        </p:txBody>
      </p:sp>
      <p:sp>
        <p:nvSpPr>
          <p:cNvPr id="28"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9" name="Shape 5"/>
          <p:cNvSpPr/>
          <p:nvPr/>
        </p:nvSpPr>
        <p:spPr>
          <a:xfrm>
            <a:off x="1078920" y="1719000"/>
            <a:ext cx="360" cy="585000"/>
          </a:xfrm>
          <a:prstGeom prst="line">
            <a:avLst/>
          </a:prstGeom>
          <a:ln w="254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0" name="Shape 6"/>
          <p:cNvSpPr/>
          <p:nvPr/>
        </p:nvSpPr>
        <p:spPr>
          <a:xfrm>
            <a:off x="841320" y="1444680"/>
            <a:ext cx="475200" cy="475200"/>
          </a:xfrm>
          <a:prstGeom prst="ellipse">
            <a:avLst/>
          </a:prstGeom>
          <a:solidFill>
            <a:srgbClr val="18A558"/>
          </a:solid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 name="Text 7"/>
          <p:cNvSpPr/>
          <p:nvPr/>
        </p:nvSpPr>
        <p:spPr>
          <a:xfrm>
            <a:off x="859680" y="1563480"/>
            <a:ext cx="4384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rial"/>
              </a:rPr>
              <a:t>01</a:t>
            </a:r>
            <a:endParaRPr lang="en-US" sz="950" b="0" u="none" strike="noStrike">
              <a:solidFill>
                <a:srgbClr val="000000"/>
              </a:solidFill>
              <a:effectLst/>
              <a:uFillTx/>
              <a:latin typeface="Arial"/>
            </a:endParaRPr>
          </a:p>
        </p:txBody>
      </p:sp>
      <p:sp>
        <p:nvSpPr>
          <p:cNvPr id="32" name="Text 8"/>
          <p:cNvSpPr/>
          <p:nvPr/>
        </p:nvSpPr>
        <p:spPr>
          <a:xfrm>
            <a:off x="1508760" y="1417320"/>
            <a:ext cx="3840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50" b="1" u="none" strike="noStrike">
                <a:solidFill>
                  <a:srgbClr val="0B2E59"/>
                </a:solidFill>
                <a:effectLst/>
                <a:uFillTx/>
                <a:latin typeface="Arial"/>
              </a:rPr>
              <a:t>Bối cảnh &amp; bài toán</a:t>
            </a:r>
            <a:endParaRPr lang="en-US" sz="1750" b="0" u="none" strike="noStrike">
              <a:solidFill>
                <a:srgbClr val="000000"/>
              </a:solidFill>
              <a:effectLst/>
              <a:uFillTx/>
              <a:latin typeface="Arial"/>
            </a:endParaRPr>
          </a:p>
        </p:txBody>
      </p:sp>
      <p:sp>
        <p:nvSpPr>
          <p:cNvPr id="33" name="Text 9"/>
          <p:cNvSpPr/>
          <p:nvPr/>
        </p:nvSpPr>
        <p:spPr>
          <a:xfrm>
            <a:off x="1508760" y="1719000"/>
            <a:ext cx="46630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20" b="0" u="none" strike="noStrike">
                <a:solidFill>
                  <a:srgbClr val="64748B"/>
                </a:solidFill>
                <a:effectLst/>
                <a:uFillTx/>
                <a:latin typeface="Arial"/>
              </a:rPr>
              <a:t>Nhu cầu kênh thông tin việc làm trực tuyến</a:t>
            </a:r>
            <a:endParaRPr lang="en-US" sz="1220" b="0" u="none" strike="noStrike">
              <a:solidFill>
                <a:srgbClr val="000000"/>
              </a:solidFill>
              <a:effectLst/>
              <a:uFillTx/>
              <a:latin typeface="Arial"/>
            </a:endParaRPr>
          </a:p>
        </p:txBody>
      </p:sp>
      <p:sp>
        <p:nvSpPr>
          <p:cNvPr id="34" name="Shape 10"/>
          <p:cNvSpPr/>
          <p:nvPr/>
        </p:nvSpPr>
        <p:spPr>
          <a:xfrm>
            <a:off x="1078920" y="2523600"/>
            <a:ext cx="360" cy="585360"/>
          </a:xfrm>
          <a:prstGeom prst="line">
            <a:avLst/>
          </a:prstGeom>
          <a:ln w="254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5" name="Shape 11"/>
          <p:cNvSpPr/>
          <p:nvPr/>
        </p:nvSpPr>
        <p:spPr>
          <a:xfrm>
            <a:off x="841320" y="2249280"/>
            <a:ext cx="475200" cy="475200"/>
          </a:xfrm>
          <a:prstGeom prst="ellipse">
            <a:avLst/>
          </a:prstGeom>
          <a:solidFill>
            <a:srgbClr val="0B4F9C"/>
          </a:solid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 name="Text 12"/>
          <p:cNvSpPr/>
          <p:nvPr/>
        </p:nvSpPr>
        <p:spPr>
          <a:xfrm>
            <a:off x="859680" y="2368440"/>
            <a:ext cx="4384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rial"/>
              </a:rPr>
              <a:t>02</a:t>
            </a:r>
            <a:endParaRPr lang="en-US" sz="950" b="0" u="none" strike="noStrike">
              <a:solidFill>
                <a:srgbClr val="000000"/>
              </a:solidFill>
              <a:effectLst/>
              <a:uFillTx/>
              <a:latin typeface="Arial"/>
            </a:endParaRPr>
          </a:p>
        </p:txBody>
      </p:sp>
      <p:sp>
        <p:nvSpPr>
          <p:cNvPr id="37" name="Text 13"/>
          <p:cNvSpPr/>
          <p:nvPr/>
        </p:nvSpPr>
        <p:spPr>
          <a:xfrm>
            <a:off x="1508760" y="2221920"/>
            <a:ext cx="3840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50" b="1" u="none" strike="noStrike">
                <a:solidFill>
                  <a:srgbClr val="0B2E59"/>
                </a:solidFill>
                <a:effectLst/>
                <a:uFillTx/>
                <a:latin typeface="Arial"/>
              </a:rPr>
              <a:t>Mục tiêu &amp; phạm vi</a:t>
            </a:r>
            <a:endParaRPr lang="en-US" sz="1750" b="0" u="none" strike="noStrike">
              <a:solidFill>
                <a:srgbClr val="000000"/>
              </a:solidFill>
              <a:effectLst/>
              <a:uFillTx/>
              <a:latin typeface="Arial"/>
            </a:endParaRPr>
          </a:p>
        </p:txBody>
      </p:sp>
      <p:sp>
        <p:nvSpPr>
          <p:cNvPr id="38" name="Text 14"/>
          <p:cNvSpPr/>
          <p:nvPr/>
        </p:nvSpPr>
        <p:spPr>
          <a:xfrm>
            <a:off x="1508760" y="2523600"/>
            <a:ext cx="46630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20" b="0" u="none" strike="noStrike">
                <a:solidFill>
                  <a:srgbClr val="64748B"/>
                </a:solidFill>
                <a:effectLst/>
                <a:uFillTx/>
                <a:latin typeface="Arial"/>
              </a:rPr>
              <a:t>Website giới thiệu thông tin, không phải sàn tuyển dụng đầy đủ</a:t>
            </a:r>
            <a:endParaRPr lang="en-US" sz="1220" b="0" u="none" strike="noStrike">
              <a:solidFill>
                <a:srgbClr val="000000"/>
              </a:solidFill>
              <a:effectLst/>
              <a:uFillTx/>
              <a:latin typeface="Arial"/>
            </a:endParaRPr>
          </a:p>
        </p:txBody>
      </p:sp>
      <p:sp>
        <p:nvSpPr>
          <p:cNvPr id="39" name="Shape 15"/>
          <p:cNvSpPr/>
          <p:nvPr/>
        </p:nvSpPr>
        <p:spPr>
          <a:xfrm>
            <a:off x="1078920" y="3328200"/>
            <a:ext cx="360" cy="585360"/>
          </a:xfrm>
          <a:prstGeom prst="line">
            <a:avLst/>
          </a:prstGeom>
          <a:ln w="254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0" name="Shape 16"/>
          <p:cNvSpPr/>
          <p:nvPr/>
        </p:nvSpPr>
        <p:spPr>
          <a:xfrm>
            <a:off x="841320" y="3054240"/>
            <a:ext cx="475200" cy="475200"/>
          </a:xfrm>
          <a:prstGeom prst="ellipse">
            <a:avLst/>
          </a:prstGeom>
          <a:solidFill>
            <a:srgbClr val="0B4F9C"/>
          </a:solid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 name="Text 17"/>
          <p:cNvSpPr/>
          <p:nvPr/>
        </p:nvSpPr>
        <p:spPr>
          <a:xfrm>
            <a:off x="859680" y="3173040"/>
            <a:ext cx="4384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rial"/>
              </a:rPr>
              <a:t>03</a:t>
            </a:r>
            <a:endParaRPr lang="en-US" sz="950" b="0" u="none" strike="noStrike">
              <a:solidFill>
                <a:srgbClr val="000000"/>
              </a:solidFill>
              <a:effectLst/>
              <a:uFillTx/>
              <a:latin typeface="Arial"/>
            </a:endParaRPr>
          </a:p>
        </p:txBody>
      </p:sp>
      <p:sp>
        <p:nvSpPr>
          <p:cNvPr id="42" name="Text 18"/>
          <p:cNvSpPr/>
          <p:nvPr/>
        </p:nvSpPr>
        <p:spPr>
          <a:xfrm>
            <a:off x="1508760" y="3026520"/>
            <a:ext cx="3840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50" b="1" u="none" strike="noStrike">
                <a:solidFill>
                  <a:srgbClr val="0B2E59"/>
                </a:solidFill>
                <a:effectLst/>
                <a:uFillTx/>
                <a:latin typeface="Arial"/>
              </a:rPr>
              <a:t>Công nghệ &amp; thiết kế</a:t>
            </a:r>
            <a:endParaRPr lang="en-US" sz="1750" b="0" u="none" strike="noStrike">
              <a:solidFill>
                <a:srgbClr val="000000"/>
              </a:solidFill>
              <a:effectLst/>
              <a:uFillTx/>
              <a:latin typeface="Arial"/>
            </a:endParaRPr>
          </a:p>
        </p:txBody>
      </p:sp>
      <p:sp>
        <p:nvSpPr>
          <p:cNvPr id="43" name="Text 19"/>
          <p:cNvSpPr/>
          <p:nvPr/>
        </p:nvSpPr>
        <p:spPr>
          <a:xfrm>
            <a:off x="1508760" y="3328560"/>
            <a:ext cx="46630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20" b="0" u="none" strike="noStrike">
                <a:solidFill>
                  <a:srgbClr val="64748B"/>
                </a:solidFill>
                <a:effectLst/>
                <a:uFillTx/>
                <a:latin typeface="Arial"/>
              </a:rPr>
              <a:t>Joomla, XAMPP, PHP, MariaDB, Smart Search</a:t>
            </a:r>
            <a:endParaRPr lang="en-US" sz="1220" b="0" u="none" strike="noStrike">
              <a:solidFill>
                <a:srgbClr val="000000"/>
              </a:solidFill>
              <a:effectLst/>
              <a:uFillTx/>
              <a:latin typeface="Arial"/>
            </a:endParaRPr>
          </a:p>
        </p:txBody>
      </p:sp>
      <p:sp>
        <p:nvSpPr>
          <p:cNvPr id="44" name="Shape 20"/>
          <p:cNvSpPr/>
          <p:nvPr/>
        </p:nvSpPr>
        <p:spPr>
          <a:xfrm>
            <a:off x="1078920" y="4132800"/>
            <a:ext cx="360" cy="585360"/>
          </a:xfrm>
          <a:prstGeom prst="line">
            <a:avLst/>
          </a:prstGeom>
          <a:ln w="254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5" name="Shape 21"/>
          <p:cNvSpPr/>
          <p:nvPr/>
        </p:nvSpPr>
        <p:spPr>
          <a:xfrm>
            <a:off x="841320" y="3858840"/>
            <a:ext cx="475200" cy="475200"/>
          </a:xfrm>
          <a:prstGeom prst="ellipse">
            <a:avLst/>
          </a:prstGeom>
          <a:solidFill>
            <a:srgbClr val="0B4F9C"/>
          </a:solid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 name="Text 22"/>
          <p:cNvSpPr/>
          <p:nvPr/>
        </p:nvSpPr>
        <p:spPr>
          <a:xfrm>
            <a:off x="859680" y="3977640"/>
            <a:ext cx="4384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rial"/>
              </a:rPr>
              <a:t>04</a:t>
            </a:r>
            <a:endParaRPr lang="en-US" sz="950" b="0" u="none" strike="noStrike">
              <a:solidFill>
                <a:srgbClr val="000000"/>
              </a:solidFill>
              <a:effectLst/>
              <a:uFillTx/>
              <a:latin typeface="Arial"/>
            </a:endParaRPr>
          </a:p>
        </p:txBody>
      </p:sp>
      <p:sp>
        <p:nvSpPr>
          <p:cNvPr id="47" name="Text 23"/>
          <p:cNvSpPr/>
          <p:nvPr/>
        </p:nvSpPr>
        <p:spPr>
          <a:xfrm>
            <a:off x="1508760" y="3831480"/>
            <a:ext cx="3840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50" b="1" u="none" strike="noStrike">
                <a:solidFill>
                  <a:srgbClr val="0B2E59"/>
                </a:solidFill>
                <a:effectLst/>
                <a:uFillTx/>
                <a:latin typeface="Arial"/>
              </a:rPr>
              <a:t>Hiện thực &amp; kết quả</a:t>
            </a:r>
            <a:endParaRPr lang="en-US" sz="1750" b="0" u="none" strike="noStrike">
              <a:solidFill>
                <a:srgbClr val="000000"/>
              </a:solidFill>
              <a:effectLst/>
              <a:uFillTx/>
              <a:latin typeface="Arial"/>
            </a:endParaRPr>
          </a:p>
        </p:txBody>
      </p:sp>
      <p:sp>
        <p:nvSpPr>
          <p:cNvPr id="48" name="Text 24"/>
          <p:cNvSpPr/>
          <p:nvPr/>
        </p:nvSpPr>
        <p:spPr>
          <a:xfrm>
            <a:off x="1508760" y="4133160"/>
            <a:ext cx="46630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20" b="0" u="none" strike="noStrike" dirty="0">
                <a:solidFill>
                  <a:srgbClr val="64748B"/>
                </a:solidFill>
                <a:effectLst/>
                <a:uFillTx/>
                <a:latin typeface="Arial"/>
              </a:rPr>
              <a:t>Giao </a:t>
            </a:r>
            <a:r>
              <a:rPr lang="en-US" sz="1220" b="0" u="none" strike="noStrike" dirty="0" err="1">
                <a:solidFill>
                  <a:srgbClr val="64748B"/>
                </a:solidFill>
                <a:effectLst/>
                <a:uFillTx/>
                <a:latin typeface="Arial"/>
              </a:rPr>
              <a:t>diện</a:t>
            </a:r>
            <a:r>
              <a:rPr lang="en-US" sz="1220" b="0" u="none" strike="noStrike" dirty="0">
                <a:solidFill>
                  <a:srgbClr val="64748B"/>
                </a:solidFill>
                <a:effectLst/>
                <a:uFillTx/>
                <a:latin typeface="Arial"/>
              </a:rPr>
              <a:t>, </a:t>
            </a:r>
            <a:r>
              <a:rPr lang="en-US" sz="1220" b="0" u="none" strike="noStrike" dirty="0" err="1">
                <a:solidFill>
                  <a:srgbClr val="64748B"/>
                </a:solidFill>
                <a:effectLst/>
                <a:uFillTx/>
                <a:latin typeface="Arial"/>
              </a:rPr>
              <a:t>chức</a:t>
            </a:r>
            <a:r>
              <a:rPr lang="en-US" sz="1220" b="0" u="none" strike="noStrike" dirty="0">
                <a:solidFill>
                  <a:srgbClr val="64748B"/>
                </a:solidFill>
                <a:effectLst/>
                <a:uFillTx/>
                <a:latin typeface="Arial"/>
              </a:rPr>
              <a:t> </a:t>
            </a:r>
            <a:r>
              <a:rPr lang="en-US" sz="1220" b="0" u="none" strike="noStrike" dirty="0" err="1">
                <a:solidFill>
                  <a:srgbClr val="64748B"/>
                </a:solidFill>
                <a:effectLst/>
                <a:uFillTx/>
                <a:latin typeface="Arial"/>
              </a:rPr>
              <a:t>năng</a:t>
            </a:r>
            <a:r>
              <a:rPr lang="en-US" sz="1220" b="0" u="none" strike="noStrike" dirty="0">
                <a:solidFill>
                  <a:srgbClr val="64748B"/>
                </a:solidFill>
                <a:effectLst/>
                <a:uFillTx/>
                <a:latin typeface="Arial"/>
              </a:rPr>
              <a:t> </a:t>
            </a:r>
            <a:r>
              <a:rPr lang="en-US" sz="1220" b="0" u="none" strike="noStrike" dirty="0" err="1">
                <a:solidFill>
                  <a:srgbClr val="64748B"/>
                </a:solidFill>
                <a:effectLst/>
                <a:uFillTx/>
                <a:latin typeface="Arial"/>
              </a:rPr>
              <a:t>người</a:t>
            </a:r>
            <a:r>
              <a:rPr lang="en-US" sz="1220" b="0" u="none" strike="noStrike" dirty="0">
                <a:solidFill>
                  <a:srgbClr val="64748B"/>
                </a:solidFill>
                <a:effectLst/>
                <a:uFillTx/>
                <a:latin typeface="Arial"/>
              </a:rPr>
              <a:t> </a:t>
            </a:r>
            <a:r>
              <a:rPr lang="en-US" sz="1220" b="0" u="none" strike="noStrike" dirty="0" err="1">
                <a:solidFill>
                  <a:srgbClr val="64748B"/>
                </a:solidFill>
                <a:effectLst/>
                <a:uFillTx/>
                <a:latin typeface="Arial"/>
              </a:rPr>
              <a:t>dùng</a:t>
            </a:r>
            <a:r>
              <a:rPr lang="en-US" sz="1220" b="0" u="none" strike="noStrike" dirty="0">
                <a:solidFill>
                  <a:srgbClr val="64748B"/>
                </a:solidFill>
                <a:effectLst/>
                <a:uFillTx/>
                <a:latin typeface="Arial"/>
              </a:rPr>
              <a:t>, </a:t>
            </a:r>
            <a:r>
              <a:rPr lang="en-US" sz="1220" b="0" u="none" strike="noStrike" dirty="0" err="1">
                <a:solidFill>
                  <a:srgbClr val="64748B"/>
                </a:solidFill>
                <a:effectLst/>
                <a:uFillTx/>
                <a:latin typeface="Arial"/>
              </a:rPr>
              <a:t>quản</a:t>
            </a:r>
            <a:r>
              <a:rPr lang="en-US" sz="1220" b="0" u="none" strike="noStrike" dirty="0">
                <a:solidFill>
                  <a:srgbClr val="64748B"/>
                </a:solidFill>
                <a:effectLst/>
                <a:uFillTx/>
                <a:latin typeface="Arial"/>
              </a:rPr>
              <a:t> </a:t>
            </a:r>
            <a:r>
              <a:rPr lang="en-US" sz="1220" b="0" u="none" strike="noStrike" dirty="0" err="1">
                <a:solidFill>
                  <a:srgbClr val="64748B"/>
                </a:solidFill>
                <a:effectLst/>
                <a:uFillTx/>
                <a:latin typeface="Arial"/>
              </a:rPr>
              <a:t>trị</a:t>
            </a:r>
            <a:r>
              <a:rPr lang="en-US" sz="1220" b="0" u="none" strike="noStrike" dirty="0">
                <a:solidFill>
                  <a:srgbClr val="64748B"/>
                </a:solidFill>
                <a:effectLst/>
                <a:uFillTx/>
                <a:latin typeface="Arial"/>
              </a:rPr>
              <a:t>, </a:t>
            </a:r>
            <a:r>
              <a:rPr lang="en-US" sz="1220" b="0" u="none" strike="noStrike" dirty="0" err="1">
                <a:solidFill>
                  <a:srgbClr val="64748B"/>
                </a:solidFill>
                <a:effectLst/>
                <a:uFillTx/>
                <a:latin typeface="Arial"/>
              </a:rPr>
              <a:t>kiểm</a:t>
            </a:r>
            <a:r>
              <a:rPr lang="en-US" sz="1220" b="0" u="none" strike="noStrike" dirty="0">
                <a:solidFill>
                  <a:srgbClr val="64748B"/>
                </a:solidFill>
                <a:effectLst/>
                <a:uFillTx/>
                <a:latin typeface="Arial"/>
              </a:rPr>
              <a:t> </a:t>
            </a:r>
            <a:r>
              <a:rPr lang="en-US" sz="1220" b="0" u="none" strike="noStrike" dirty="0" err="1">
                <a:solidFill>
                  <a:srgbClr val="64748B"/>
                </a:solidFill>
                <a:effectLst/>
                <a:uFillTx/>
                <a:latin typeface="Arial"/>
              </a:rPr>
              <a:t>thử</a:t>
            </a:r>
            <a:endParaRPr lang="en-US" sz="1220" b="0" u="none" strike="noStrike" dirty="0">
              <a:solidFill>
                <a:srgbClr val="000000"/>
              </a:solidFill>
              <a:effectLst/>
              <a:uFillTx/>
              <a:latin typeface="Arial"/>
            </a:endParaRPr>
          </a:p>
        </p:txBody>
      </p:sp>
      <p:sp>
        <p:nvSpPr>
          <p:cNvPr id="49" name="Shape 25"/>
          <p:cNvSpPr/>
          <p:nvPr/>
        </p:nvSpPr>
        <p:spPr>
          <a:xfrm>
            <a:off x="1078920" y="4937760"/>
            <a:ext cx="360" cy="360"/>
          </a:xfrm>
          <a:prstGeom prst="line">
            <a:avLst/>
          </a:prstGeom>
          <a:ln w="25400">
            <a:solidFill>
              <a:srgbClr val="C7D7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0" name="Shape 26"/>
          <p:cNvSpPr/>
          <p:nvPr/>
        </p:nvSpPr>
        <p:spPr>
          <a:xfrm>
            <a:off x="841320" y="4663440"/>
            <a:ext cx="475200" cy="475200"/>
          </a:xfrm>
          <a:prstGeom prst="ellipse">
            <a:avLst/>
          </a:prstGeom>
          <a:solidFill>
            <a:srgbClr val="0B4F9C"/>
          </a:solid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 name="Text 27"/>
          <p:cNvSpPr/>
          <p:nvPr/>
        </p:nvSpPr>
        <p:spPr>
          <a:xfrm>
            <a:off x="859680" y="4782240"/>
            <a:ext cx="4384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rial"/>
              </a:rPr>
              <a:t>05</a:t>
            </a:r>
            <a:endParaRPr lang="en-US" sz="950" b="0" u="none" strike="noStrike">
              <a:solidFill>
                <a:srgbClr val="000000"/>
              </a:solidFill>
              <a:effectLst/>
              <a:uFillTx/>
              <a:latin typeface="Arial"/>
            </a:endParaRPr>
          </a:p>
        </p:txBody>
      </p:sp>
      <p:sp>
        <p:nvSpPr>
          <p:cNvPr id="52" name="Text 28"/>
          <p:cNvSpPr/>
          <p:nvPr/>
        </p:nvSpPr>
        <p:spPr>
          <a:xfrm>
            <a:off x="1508760" y="4636080"/>
            <a:ext cx="3840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50" b="1" u="none" strike="noStrike">
                <a:solidFill>
                  <a:srgbClr val="0B2E59"/>
                </a:solidFill>
                <a:effectLst/>
                <a:uFillTx/>
                <a:latin typeface="Arial"/>
              </a:rPr>
              <a:t>Đánh giá &amp; phát triển</a:t>
            </a:r>
            <a:endParaRPr lang="en-US" sz="1750" b="0" u="none" strike="noStrike">
              <a:solidFill>
                <a:srgbClr val="000000"/>
              </a:solidFill>
              <a:effectLst/>
              <a:uFillTx/>
              <a:latin typeface="Arial"/>
            </a:endParaRPr>
          </a:p>
        </p:txBody>
      </p:sp>
      <p:sp>
        <p:nvSpPr>
          <p:cNvPr id="53" name="Text 29"/>
          <p:cNvSpPr/>
          <p:nvPr/>
        </p:nvSpPr>
        <p:spPr>
          <a:xfrm>
            <a:off x="1508760" y="4937760"/>
            <a:ext cx="46630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20" b="0" u="none" strike="noStrike">
                <a:solidFill>
                  <a:srgbClr val="64748B"/>
                </a:solidFill>
                <a:effectLst/>
                <a:uFillTx/>
                <a:latin typeface="Arial"/>
              </a:rPr>
              <a:t>Ưu điểm, hạn chế, hướng mở rộng</a:t>
            </a:r>
            <a:endParaRPr lang="en-US" sz="1220" b="0" u="none" strike="noStrike">
              <a:solidFill>
                <a:srgbClr val="000000"/>
              </a:solidFill>
              <a:effectLst/>
              <a:uFillTx/>
              <a:latin typeface="Arial"/>
            </a:endParaRPr>
          </a:p>
        </p:txBody>
      </p:sp>
      <p:sp>
        <p:nvSpPr>
          <p:cNvPr id="54" name="Shape 30"/>
          <p:cNvSpPr/>
          <p:nvPr/>
        </p:nvSpPr>
        <p:spPr>
          <a:xfrm>
            <a:off x="6675120" y="1371600"/>
            <a:ext cx="4388760" cy="4160160"/>
          </a:xfrm>
          <a:prstGeom prst="roundRect">
            <a:avLst>
              <a:gd name="adj" fmla="val 16667"/>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 name="Text 31"/>
          <p:cNvSpPr/>
          <p:nvPr/>
        </p:nvSpPr>
        <p:spPr>
          <a:xfrm>
            <a:off x="6995160" y="1710000"/>
            <a:ext cx="3748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E59"/>
                </a:solidFill>
                <a:effectLst/>
                <a:uFillTx/>
                <a:latin typeface="Arial"/>
              </a:rPr>
              <a:t>Sản phẩm cuối cùng</a:t>
            </a:r>
            <a:endParaRPr lang="en-US" sz="2000" b="0" u="none" strike="noStrike">
              <a:solidFill>
                <a:srgbClr val="000000"/>
              </a:solidFill>
              <a:effectLst/>
              <a:uFillTx/>
              <a:latin typeface="Arial"/>
            </a:endParaRPr>
          </a:p>
        </p:txBody>
      </p:sp>
      <p:sp>
        <p:nvSpPr>
          <p:cNvPr id="56" name="Shape 32"/>
          <p:cNvSpPr/>
          <p:nvPr/>
        </p:nvSpPr>
        <p:spPr>
          <a:xfrm>
            <a:off x="7205400" y="2331720"/>
            <a:ext cx="3346200" cy="639720"/>
          </a:xfrm>
          <a:prstGeom prst="roundRect">
            <a:avLst>
              <a:gd name="adj" fmla="val 11429"/>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 name="Text 33"/>
          <p:cNvSpPr/>
          <p:nvPr/>
        </p:nvSpPr>
        <p:spPr>
          <a:xfrm>
            <a:off x="7315200" y="2404800"/>
            <a:ext cx="312696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0B4F9C"/>
                </a:solidFill>
                <a:effectLst/>
                <a:uFillTx/>
                <a:latin typeface="Arial"/>
                <a:ea typeface="Arial"/>
              </a:rPr>
              <a:t>Website Joomla chạy local</a:t>
            </a:r>
            <a:endParaRPr lang="en-US" sz="1500" b="0" u="none" strike="noStrike">
              <a:solidFill>
                <a:srgbClr val="000000"/>
              </a:solidFill>
              <a:effectLst/>
              <a:uFillTx/>
              <a:latin typeface="Arial"/>
            </a:endParaRPr>
          </a:p>
        </p:txBody>
      </p:sp>
      <p:sp>
        <p:nvSpPr>
          <p:cNvPr id="58" name="Shape 34"/>
          <p:cNvSpPr/>
          <p:nvPr/>
        </p:nvSpPr>
        <p:spPr>
          <a:xfrm>
            <a:off x="7205400" y="3154680"/>
            <a:ext cx="3346200" cy="639720"/>
          </a:xfrm>
          <a:prstGeom prst="roundRect">
            <a:avLst>
              <a:gd name="adj" fmla="val 11429"/>
            </a:avLst>
          </a:prstGeom>
          <a:solidFill>
            <a:srgbClr val="F1FBF5"/>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 name="Text 35"/>
          <p:cNvSpPr/>
          <p:nvPr/>
        </p:nvSpPr>
        <p:spPr>
          <a:xfrm>
            <a:off x="7315200" y="3227760"/>
            <a:ext cx="312696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8A558"/>
                </a:solidFill>
                <a:effectLst/>
                <a:uFillTx/>
                <a:latin typeface="Arial"/>
                <a:ea typeface="Arial"/>
              </a:rPr>
              <a:t>Báo cáo đồ án theo mẫu TVU</a:t>
            </a:r>
            <a:endParaRPr lang="en-US" sz="1500" b="0" u="none" strike="noStrike">
              <a:solidFill>
                <a:srgbClr val="000000"/>
              </a:solidFill>
              <a:effectLst/>
              <a:uFillTx/>
              <a:latin typeface="Arial"/>
            </a:endParaRPr>
          </a:p>
        </p:txBody>
      </p:sp>
      <p:sp>
        <p:nvSpPr>
          <p:cNvPr id="60" name="Shape 36"/>
          <p:cNvSpPr/>
          <p:nvPr/>
        </p:nvSpPr>
        <p:spPr>
          <a:xfrm>
            <a:off x="7205400" y="3977640"/>
            <a:ext cx="3346200" cy="639720"/>
          </a:xfrm>
          <a:prstGeom prst="roundRect">
            <a:avLst>
              <a:gd name="adj" fmla="val 11429"/>
            </a:avLst>
          </a:prstGeom>
          <a:solidFill>
            <a:srgbClr val="FFF4E6"/>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 name="Text 37"/>
          <p:cNvSpPr/>
          <p:nvPr/>
        </p:nvSpPr>
        <p:spPr>
          <a:xfrm>
            <a:off x="7315200" y="4050720"/>
            <a:ext cx="312696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58220"/>
                </a:solidFill>
                <a:effectLst/>
                <a:uFillTx/>
                <a:latin typeface="Arial"/>
                <a:ea typeface="Arial"/>
              </a:rPr>
              <a:t>Bộ kiểm thử + hướng phát triển</a:t>
            </a:r>
            <a:endParaRPr lang="en-US" sz="1500" b="0" u="none" strike="noStrike">
              <a:solidFill>
                <a:srgbClr val="000000"/>
              </a:solidFill>
              <a:effectLst/>
              <a:uFillTx/>
              <a:latin typeface="Arial"/>
            </a:endParaRPr>
          </a:p>
        </p:txBody>
      </p:sp>
      <p:sp>
        <p:nvSpPr>
          <p:cNvPr id="62" name="Text 38"/>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63" name="PlaceHolder 1"/>
          <p:cNvSpPr>
            <a:spLocks noGrp="1"/>
          </p:cNvSpPr>
          <p:nvPr>
            <p:ph type="sldNum" idx="6"/>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3EA49B6E-CB25-49C4-8E25-6BE745CEAC56}" type="slidenum">
              <a:rPr lang="en-US" sz="800" b="0" u="none" strike="noStrike">
                <a:solidFill>
                  <a:srgbClr val="8392A5"/>
                </a:solidFill>
                <a:effectLst/>
                <a:uFillTx/>
                <a:latin typeface="Arial"/>
                <a:ea typeface="Arial"/>
              </a:rPr>
              <a:t>2</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7571"/>
    </mc:Choice>
    <mc:Fallback xmlns="">
      <p:transition spd="slow" advTm="1757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64"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BỐI CẢNH</a:t>
            </a:r>
            <a:endParaRPr lang="en-US" sz="880" b="0" u="none" strike="noStrike">
              <a:solidFill>
                <a:srgbClr val="000000"/>
              </a:solidFill>
              <a:effectLst/>
              <a:uFillTx/>
              <a:latin typeface="Arial"/>
            </a:endParaRPr>
          </a:p>
        </p:txBody>
      </p:sp>
      <p:sp>
        <p:nvSpPr>
          <p:cNvPr id="66"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Bài toán đặt ra</a:t>
            </a:r>
            <a:endParaRPr lang="en-US" sz="2800" b="0" u="none" strike="noStrike">
              <a:solidFill>
                <a:srgbClr val="000000"/>
              </a:solidFill>
              <a:effectLst/>
              <a:uFillTx/>
              <a:latin typeface="Arial"/>
            </a:endParaRPr>
          </a:p>
        </p:txBody>
      </p:sp>
      <p:sp>
        <p:nvSpPr>
          <p:cNvPr id="67"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Tổ chức thông tin việc làm để người dùng dễ tiếp cận hơn</a:t>
            </a:r>
            <a:endParaRPr lang="en-US" sz="1050" b="0" u="none" strike="noStrike">
              <a:solidFill>
                <a:srgbClr val="000000"/>
              </a:solidFill>
              <a:effectLst/>
              <a:uFillTx/>
              <a:latin typeface="Arial"/>
            </a:endParaRPr>
          </a:p>
        </p:txBody>
      </p:sp>
      <p:sp>
        <p:nvSpPr>
          <p:cNvPr id="68"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9" name="Shape 5"/>
          <p:cNvSpPr/>
          <p:nvPr/>
        </p:nvSpPr>
        <p:spPr>
          <a:xfrm>
            <a:off x="621720" y="1417320"/>
            <a:ext cx="4937400" cy="4525920"/>
          </a:xfrm>
          <a:prstGeom prst="rect">
            <a:avLst/>
          </a:prstGeom>
          <a:solidFill>
            <a:srgbClr val="0B2E59"/>
          </a:solidFill>
          <a:ln w="12700">
            <a:solidFill>
              <a:srgbClr val="0B2E59">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 name="Text 6"/>
          <p:cNvSpPr/>
          <p:nvPr/>
        </p:nvSpPr>
        <p:spPr>
          <a:xfrm>
            <a:off x="914400" y="1737360"/>
            <a:ext cx="4297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FFFFFF"/>
                </a:solidFill>
                <a:effectLst/>
                <a:uFillTx/>
                <a:latin typeface="Arial"/>
              </a:rPr>
              <a:t>Trước khi có website</a:t>
            </a:r>
            <a:endParaRPr lang="en-US" sz="2100" b="0" u="none" strike="noStrike">
              <a:solidFill>
                <a:srgbClr val="000000"/>
              </a:solidFill>
              <a:effectLst/>
              <a:uFillTx/>
              <a:latin typeface="Arial"/>
            </a:endParaRPr>
          </a:p>
        </p:txBody>
      </p:sp>
      <p:sp>
        <p:nvSpPr>
          <p:cNvPr id="71" name="Shape 7"/>
          <p:cNvSpPr/>
          <p:nvPr/>
        </p:nvSpPr>
        <p:spPr>
          <a:xfrm>
            <a:off x="914400" y="2468880"/>
            <a:ext cx="109440" cy="109440"/>
          </a:xfrm>
          <a:prstGeom prst="ellipse">
            <a:avLst/>
          </a:prstGeom>
          <a:solidFill>
            <a:srgbClr val="F58220"/>
          </a:solidFill>
          <a:ln w="12700">
            <a:solidFill>
              <a:srgbClr val="F58220">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72" name="Text 8"/>
          <p:cNvSpPr/>
          <p:nvPr/>
        </p:nvSpPr>
        <p:spPr>
          <a:xfrm>
            <a:off x="1115640" y="2423160"/>
            <a:ext cx="4160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a:bodyPr>
          <a:lstStyle/>
          <a:p>
            <a:pPr defTabSz="914400">
              <a:lnSpc>
                <a:spcPct val="100000"/>
              </a:lnSpc>
              <a:tabLst>
                <a:tab pos="0" algn="l"/>
              </a:tabLst>
            </a:pPr>
            <a:r>
              <a:rPr lang="en-US" sz="1500" b="0" u="none" strike="noStrike">
                <a:solidFill>
                  <a:srgbClr val="E8F3FF"/>
                </a:solidFill>
                <a:effectLst/>
                <a:uFillTx/>
                <a:latin typeface="Arial"/>
                <a:ea typeface="Arial"/>
              </a:rPr>
              <a:t>Thông tin việc làm rời rạc, khó tra cứu theo ngành</a:t>
            </a:r>
            <a:endParaRPr lang="en-US" sz="1500" b="0" u="none" strike="noStrike">
              <a:solidFill>
                <a:srgbClr val="000000"/>
              </a:solidFill>
              <a:effectLst/>
              <a:uFillTx/>
              <a:latin typeface="Arial"/>
            </a:endParaRPr>
          </a:p>
        </p:txBody>
      </p:sp>
      <p:sp>
        <p:nvSpPr>
          <p:cNvPr id="73" name="Shape 9"/>
          <p:cNvSpPr/>
          <p:nvPr/>
        </p:nvSpPr>
        <p:spPr>
          <a:xfrm>
            <a:off x="914400" y="3108960"/>
            <a:ext cx="109440" cy="109440"/>
          </a:xfrm>
          <a:prstGeom prst="ellipse">
            <a:avLst/>
          </a:prstGeom>
          <a:solidFill>
            <a:srgbClr val="F58220"/>
          </a:solidFill>
          <a:ln w="12700">
            <a:solidFill>
              <a:srgbClr val="F58220">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74" name="Text 10"/>
          <p:cNvSpPr/>
          <p:nvPr/>
        </p:nvSpPr>
        <p:spPr>
          <a:xfrm>
            <a:off x="1115640" y="3063240"/>
            <a:ext cx="4160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0" u="none" strike="noStrike">
                <a:solidFill>
                  <a:srgbClr val="E8F3FF"/>
                </a:solidFill>
                <a:effectLst/>
                <a:uFillTx/>
                <a:latin typeface="Arial"/>
                <a:ea typeface="Arial"/>
              </a:rPr>
              <a:t>Người lao động mất thời gian tìm tin phù hợp</a:t>
            </a:r>
            <a:endParaRPr lang="en-US" sz="1500" b="0" u="none" strike="noStrike">
              <a:solidFill>
                <a:srgbClr val="000000"/>
              </a:solidFill>
              <a:effectLst/>
              <a:uFillTx/>
              <a:latin typeface="Arial"/>
            </a:endParaRPr>
          </a:p>
        </p:txBody>
      </p:sp>
      <p:sp>
        <p:nvSpPr>
          <p:cNvPr id="75" name="Shape 11"/>
          <p:cNvSpPr/>
          <p:nvPr/>
        </p:nvSpPr>
        <p:spPr>
          <a:xfrm>
            <a:off x="914400" y="3749040"/>
            <a:ext cx="109440" cy="109440"/>
          </a:xfrm>
          <a:prstGeom prst="ellipse">
            <a:avLst/>
          </a:prstGeom>
          <a:solidFill>
            <a:srgbClr val="F58220"/>
          </a:solidFill>
          <a:ln w="12700">
            <a:solidFill>
              <a:srgbClr val="F58220">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76" name="Text 12"/>
          <p:cNvSpPr/>
          <p:nvPr/>
        </p:nvSpPr>
        <p:spPr>
          <a:xfrm>
            <a:off x="1115640" y="3703320"/>
            <a:ext cx="4160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0" u="none" strike="noStrike">
                <a:solidFill>
                  <a:srgbClr val="E8F3FF"/>
                </a:solidFill>
                <a:effectLst/>
                <a:uFillTx/>
                <a:latin typeface="Arial"/>
                <a:ea typeface="Arial"/>
              </a:rPr>
              <a:t>Trung tâm cần kênh giới thiệu thống nhất</a:t>
            </a:r>
            <a:endParaRPr lang="en-US" sz="1500" b="0" u="none" strike="noStrike">
              <a:solidFill>
                <a:srgbClr val="000000"/>
              </a:solidFill>
              <a:effectLst/>
              <a:uFillTx/>
              <a:latin typeface="Arial"/>
            </a:endParaRPr>
          </a:p>
        </p:txBody>
      </p:sp>
      <p:sp>
        <p:nvSpPr>
          <p:cNvPr id="77" name="Shape 13"/>
          <p:cNvSpPr/>
          <p:nvPr/>
        </p:nvSpPr>
        <p:spPr>
          <a:xfrm>
            <a:off x="914400" y="4389120"/>
            <a:ext cx="109440" cy="109440"/>
          </a:xfrm>
          <a:prstGeom prst="ellipse">
            <a:avLst/>
          </a:prstGeom>
          <a:solidFill>
            <a:srgbClr val="F58220"/>
          </a:solidFill>
          <a:ln w="12700">
            <a:solidFill>
              <a:srgbClr val="F58220">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78" name="Text 14"/>
          <p:cNvSpPr/>
          <p:nvPr/>
        </p:nvSpPr>
        <p:spPr>
          <a:xfrm>
            <a:off x="1115640" y="4343400"/>
            <a:ext cx="4160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500" b="0" u="none" strike="noStrike">
                <a:solidFill>
                  <a:srgbClr val="E8F3FF"/>
                </a:solidFill>
                <a:effectLst/>
                <a:uFillTx/>
                <a:latin typeface="Arial"/>
                <a:ea typeface="Arial"/>
              </a:rPr>
              <a:t>Nội dung cần được quản trị nhanh, ít phụ thuộc lập trình</a:t>
            </a:r>
            <a:endParaRPr lang="en-US" sz="1500" b="0" u="none" strike="noStrike">
              <a:solidFill>
                <a:srgbClr val="000000"/>
              </a:solidFill>
              <a:effectLst/>
              <a:uFillTx/>
              <a:latin typeface="Arial"/>
            </a:endParaRPr>
          </a:p>
        </p:txBody>
      </p:sp>
      <p:sp>
        <p:nvSpPr>
          <p:cNvPr id="79" name="Shape 15"/>
          <p:cNvSpPr/>
          <p:nvPr/>
        </p:nvSpPr>
        <p:spPr>
          <a:xfrm>
            <a:off x="5715000" y="2971800"/>
            <a:ext cx="731160" cy="566640"/>
          </a:xfrm>
          <a:prstGeom prst="chevron">
            <a:avLst>
              <a:gd name="adj" fmla="val 50000"/>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Shape 16"/>
          <p:cNvSpPr/>
          <p:nvPr/>
        </p:nvSpPr>
        <p:spPr>
          <a:xfrm>
            <a:off x="6629400" y="1417320"/>
            <a:ext cx="4800240" cy="4525920"/>
          </a:xfrm>
          <a:prstGeom prst="rect">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 name="Text 17"/>
          <p:cNvSpPr/>
          <p:nvPr/>
        </p:nvSpPr>
        <p:spPr>
          <a:xfrm>
            <a:off x="6931080" y="1737360"/>
            <a:ext cx="40687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B2E59"/>
                </a:solidFill>
                <a:effectLst/>
                <a:uFillTx/>
                <a:latin typeface="Arial"/>
              </a:rPr>
              <a:t>Giải pháp đề xuất</a:t>
            </a:r>
            <a:endParaRPr lang="en-US" sz="2100" b="0" u="none" strike="noStrike">
              <a:solidFill>
                <a:srgbClr val="000000"/>
              </a:solidFill>
              <a:effectLst/>
              <a:uFillTx/>
              <a:latin typeface="Arial"/>
            </a:endParaRPr>
          </a:p>
        </p:txBody>
      </p:sp>
      <p:sp>
        <p:nvSpPr>
          <p:cNvPr id="82" name="Shape 18"/>
          <p:cNvSpPr/>
          <p:nvPr/>
        </p:nvSpPr>
        <p:spPr>
          <a:xfrm>
            <a:off x="6931080" y="246888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83" name="Text 19"/>
          <p:cNvSpPr/>
          <p:nvPr/>
        </p:nvSpPr>
        <p:spPr>
          <a:xfrm>
            <a:off x="7132320" y="2423160"/>
            <a:ext cx="3931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a:bodyPr>
          <a:lstStyle/>
          <a:p>
            <a:pPr defTabSz="914400">
              <a:lnSpc>
                <a:spcPct val="100000"/>
              </a:lnSpc>
              <a:tabLst>
                <a:tab pos="0" algn="l"/>
              </a:tabLst>
            </a:pPr>
            <a:r>
              <a:rPr lang="en-US" sz="1500" b="0" u="none" strike="noStrike">
                <a:solidFill>
                  <a:srgbClr val="1F2937"/>
                </a:solidFill>
                <a:effectLst/>
                <a:uFillTx/>
                <a:latin typeface="Arial"/>
                <a:ea typeface="Arial"/>
              </a:rPr>
              <a:t>Website giới thiệu thông tin Trung tâm việc làm</a:t>
            </a:r>
            <a:endParaRPr lang="en-US" sz="1500" b="0" u="none" strike="noStrike">
              <a:solidFill>
                <a:srgbClr val="000000"/>
              </a:solidFill>
              <a:effectLst/>
              <a:uFillTx/>
              <a:latin typeface="Arial"/>
            </a:endParaRPr>
          </a:p>
        </p:txBody>
      </p:sp>
      <p:sp>
        <p:nvSpPr>
          <p:cNvPr id="84" name="Shape 20"/>
          <p:cNvSpPr/>
          <p:nvPr/>
        </p:nvSpPr>
        <p:spPr>
          <a:xfrm>
            <a:off x="6931080" y="310896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85" name="Text 21"/>
          <p:cNvSpPr/>
          <p:nvPr/>
        </p:nvSpPr>
        <p:spPr>
          <a:xfrm>
            <a:off x="7132320" y="3063240"/>
            <a:ext cx="3931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0" u="none" strike="noStrike">
                <a:solidFill>
                  <a:srgbClr val="1F2937"/>
                </a:solidFill>
                <a:effectLst/>
                <a:uFillTx/>
                <a:latin typeface="Arial"/>
                <a:ea typeface="Arial"/>
              </a:rPr>
              <a:t>Phân loại việc làm theo 5 nhóm ngành</a:t>
            </a:r>
            <a:endParaRPr lang="en-US" sz="1500" b="0" u="none" strike="noStrike">
              <a:solidFill>
                <a:srgbClr val="000000"/>
              </a:solidFill>
              <a:effectLst/>
              <a:uFillTx/>
              <a:latin typeface="Arial"/>
            </a:endParaRPr>
          </a:p>
        </p:txBody>
      </p:sp>
      <p:sp>
        <p:nvSpPr>
          <p:cNvPr id="86" name="Shape 22"/>
          <p:cNvSpPr/>
          <p:nvPr/>
        </p:nvSpPr>
        <p:spPr>
          <a:xfrm>
            <a:off x="6931080" y="374904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87" name="Text 23"/>
          <p:cNvSpPr/>
          <p:nvPr/>
        </p:nvSpPr>
        <p:spPr>
          <a:xfrm>
            <a:off x="7132320" y="3703320"/>
            <a:ext cx="3931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0" u="none" strike="noStrike">
                <a:solidFill>
                  <a:srgbClr val="1F2937"/>
                </a:solidFill>
                <a:effectLst/>
                <a:uFillTx/>
                <a:latin typeface="Arial"/>
                <a:ea typeface="Arial"/>
              </a:rPr>
              <a:t>Tìm kiếm bằng Smart Search của Joomla</a:t>
            </a:r>
            <a:endParaRPr lang="en-US" sz="1500" b="0" u="none" strike="noStrike">
              <a:solidFill>
                <a:srgbClr val="000000"/>
              </a:solidFill>
              <a:effectLst/>
              <a:uFillTx/>
              <a:latin typeface="Arial"/>
            </a:endParaRPr>
          </a:p>
        </p:txBody>
      </p:sp>
      <p:sp>
        <p:nvSpPr>
          <p:cNvPr id="88" name="Shape 24"/>
          <p:cNvSpPr/>
          <p:nvPr/>
        </p:nvSpPr>
        <p:spPr>
          <a:xfrm>
            <a:off x="6931080" y="438912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89" name="Text 25"/>
          <p:cNvSpPr/>
          <p:nvPr/>
        </p:nvSpPr>
        <p:spPr>
          <a:xfrm>
            <a:off x="7132320" y="4343400"/>
            <a:ext cx="3931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0" u="none" strike="noStrike">
                <a:solidFill>
                  <a:srgbClr val="1F2937"/>
                </a:solidFill>
                <a:effectLst/>
                <a:uFillTx/>
                <a:latin typeface="Arial"/>
                <a:ea typeface="Arial"/>
              </a:rPr>
              <a:t>Quản trị bài viết, danh mục, menu, module</a:t>
            </a:r>
            <a:endParaRPr lang="en-US" sz="1500" b="0" u="none" strike="noStrike">
              <a:solidFill>
                <a:srgbClr val="000000"/>
              </a:solidFill>
              <a:effectLst/>
              <a:uFillTx/>
              <a:latin typeface="Arial"/>
            </a:endParaRPr>
          </a:p>
        </p:txBody>
      </p:sp>
      <p:sp>
        <p:nvSpPr>
          <p:cNvPr id="90" name="Text 26"/>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91" name="PlaceHolder 1"/>
          <p:cNvSpPr>
            <a:spLocks noGrp="1"/>
          </p:cNvSpPr>
          <p:nvPr>
            <p:ph type="sldNum" idx="7"/>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4FA40FC0-22E8-4E61-BC50-36AF28561EF9}" type="slidenum">
              <a:rPr lang="en-US" sz="800" b="0" u="none" strike="noStrike">
                <a:solidFill>
                  <a:srgbClr val="8392A5"/>
                </a:solidFill>
                <a:effectLst/>
                <a:uFillTx/>
                <a:latin typeface="Arial"/>
                <a:ea typeface="Arial"/>
              </a:rPr>
              <a:t>3</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36729"/>
    </mc:Choice>
    <mc:Fallback xmlns="">
      <p:transition spd="slow" advTm="3672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92"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MỤC TIÊU</a:t>
            </a:r>
            <a:endParaRPr lang="en-US" sz="880" b="0" u="none" strike="noStrike">
              <a:solidFill>
                <a:srgbClr val="000000"/>
              </a:solidFill>
              <a:effectLst/>
              <a:uFillTx/>
              <a:latin typeface="Arial"/>
            </a:endParaRPr>
          </a:p>
        </p:txBody>
      </p:sp>
      <p:sp>
        <p:nvSpPr>
          <p:cNvPr id="94"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Mục tiêu và phạm vi đồ án</a:t>
            </a:r>
            <a:endParaRPr lang="en-US" sz="2800" b="0" u="none" strike="noStrike">
              <a:solidFill>
                <a:srgbClr val="000000"/>
              </a:solidFill>
              <a:effectLst/>
              <a:uFillTx/>
              <a:latin typeface="Arial"/>
            </a:endParaRPr>
          </a:p>
        </p:txBody>
      </p:sp>
      <p:sp>
        <p:nvSpPr>
          <p:cNvPr id="95"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Nêu rõ những gì hệ thống làm được và chưa triển khai trong phạm vi môn học</a:t>
            </a:r>
            <a:endParaRPr lang="en-US" sz="1050" b="0" u="none" strike="noStrike">
              <a:solidFill>
                <a:srgbClr val="000000"/>
              </a:solidFill>
              <a:effectLst/>
              <a:uFillTx/>
              <a:latin typeface="Arial"/>
            </a:endParaRPr>
          </a:p>
        </p:txBody>
      </p:sp>
      <p:sp>
        <p:nvSpPr>
          <p:cNvPr id="96"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7" name="Text 5"/>
          <p:cNvSpPr/>
          <p:nvPr/>
        </p:nvSpPr>
        <p:spPr>
          <a:xfrm>
            <a:off x="777240" y="1417320"/>
            <a:ext cx="31086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B2E59"/>
                </a:solidFill>
                <a:effectLst/>
                <a:uFillTx/>
                <a:latin typeface="Arial"/>
              </a:rPr>
              <a:t>Mục tiêu chính</a:t>
            </a:r>
            <a:endParaRPr lang="en-US" sz="2000" b="0" u="none" strike="noStrike">
              <a:solidFill>
                <a:srgbClr val="000000"/>
              </a:solidFill>
              <a:effectLst/>
              <a:uFillTx/>
              <a:latin typeface="Arial"/>
            </a:endParaRPr>
          </a:p>
        </p:txBody>
      </p:sp>
      <p:sp>
        <p:nvSpPr>
          <p:cNvPr id="98" name="Shape 6"/>
          <p:cNvSpPr/>
          <p:nvPr/>
        </p:nvSpPr>
        <p:spPr>
          <a:xfrm>
            <a:off x="841320" y="190188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99" name="Text 7"/>
          <p:cNvSpPr/>
          <p:nvPr/>
        </p:nvSpPr>
        <p:spPr>
          <a:xfrm>
            <a:off x="1042560" y="1856160"/>
            <a:ext cx="4663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30" b="0" u="none" strike="noStrike">
                <a:solidFill>
                  <a:srgbClr val="1F2937"/>
                </a:solidFill>
                <a:effectLst/>
                <a:uFillTx/>
                <a:latin typeface="Arial"/>
                <a:ea typeface="Arial"/>
              </a:rPr>
              <a:t>Tìm hiểu Joomla CMS 5.4.7</a:t>
            </a:r>
            <a:endParaRPr lang="en-US" sz="1430" b="0" u="none" strike="noStrike">
              <a:solidFill>
                <a:srgbClr val="000000"/>
              </a:solidFill>
              <a:effectLst/>
              <a:uFillTx/>
              <a:latin typeface="Arial"/>
            </a:endParaRPr>
          </a:p>
        </p:txBody>
      </p:sp>
      <p:sp>
        <p:nvSpPr>
          <p:cNvPr id="100" name="Shape 8"/>
          <p:cNvSpPr/>
          <p:nvPr/>
        </p:nvSpPr>
        <p:spPr>
          <a:xfrm>
            <a:off x="841320" y="237744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101" name="Text 9"/>
          <p:cNvSpPr/>
          <p:nvPr/>
        </p:nvSpPr>
        <p:spPr>
          <a:xfrm>
            <a:off x="1042560" y="2331720"/>
            <a:ext cx="4663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30" b="0" u="none" strike="noStrike">
                <a:solidFill>
                  <a:srgbClr val="1F2937"/>
                </a:solidFill>
                <a:effectLst/>
                <a:uFillTx/>
                <a:latin typeface="Arial"/>
                <a:ea typeface="Arial"/>
              </a:rPr>
              <a:t>Thiết kế website thông tin việc làm</a:t>
            </a:r>
            <a:endParaRPr lang="en-US" sz="1430" b="0" u="none" strike="noStrike">
              <a:solidFill>
                <a:srgbClr val="000000"/>
              </a:solidFill>
              <a:effectLst/>
              <a:uFillTx/>
              <a:latin typeface="Arial"/>
            </a:endParaRPr>
          </a:p>
        </p:txBody>
      </p:sp>
      <p:sp>
        <p:nvSpPr>
          <p:cNvPr id="102" name="Shape 10"/>
          <p:cNvSpPr/>
          <p:nvPr/>
        </p:nvSpPr>
        <p:spPr>
          <a:xfrm>
            <a:off x="841320" y="285300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103" name="Text 11"/>
          <p:cNvSpPr/>
          <p:nvPr/>
        </p:nvSpPr>
        <p:spPr>
          <a:xfrm>
            <a:off x="1042560" y="2807280"/>
            <a:ext cx="4663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30" b="0" u="none" strike="noStrike">
                <a:solidFill>
                  <a:srgbClr val="1F2937"/>
                </a:solidFill>
                <a:effectLst/>
                <a:uFillTx/>
                <a:latin typeface="Arial"/>
                <a:ea typeface="Arial"/>
              </a:rPr>
              <a:t>Cấu hình danh mục, menu, module</a:t>
            </a:r>
            <a:endParaRPr lang="en-US" sz="1430" b="0" u="none" strike="noStrike">
              <a:solidFill>
                <a:srgbClr val="000000"/>
              </a:solidFill>
              <a:effectLst/>
              <a:uFillTx/>
              <a:latin typeface="Arial"/>
            </a:endParaRPr>
          </a:p>
        </p:txBody>
      </p:sp>
      <p:sp>
        <p:nvSpPr>
          <p:cNvPr id="104" name="Shape 12"/>
          <p:cNvSpPr/>
          <p:nvPr/>
        </p:nvSpPr>
        <p:spPr>
          <a:xfrm>
            <a:off x="841320" y="332856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105" name="Text 13"/>
          <p:cNvSpPr/>
          <p:nvPr/>
        </p:nvSpPr>
        <p:spPr>
          <a:xfrm>
            <a:off x="1042560" y="3282840"/>
            <a:ext cx="4663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30" b="0" u="none" strike="noStrike">
                <a:solidFill>
                  <a:srgbClr val="1F2937"/>
                </a:solidFill>
                <a:effectLst/>
                <a:uFillTx/>
                <a:latin typeface="Arial"/>
                <a:ea typeface="Arial"/>
              </a:rPr>
              <a:t>Tùy chỉnh giao diện Cassiopeia</a:t>
            </a:r>
            <a:endParaRPr lang="en-US" sz="1430" b="0" u="none" strike="noStrike">
              <a:solidFill>
                <a:srgbClr val="000000"/>
              </a:solidFill>
              <a:effectLst/>
              <a:uFillTx/>
              <a:latin typeface="Arial"/>
            </a:endParaRPr>
          </a:p>
        </p:txBody>
      </p:sp>
      <p:sp>
        <p:nvSpPr>
          <p:cNvPr id="106" name="Shape 14"/>
          <p:cNvSpPr/>
          <p:nvPr/>
        </p:nvSpPr>
        <p:spPr>
          <a:xfrm>
            <a:off x="841320" y="380376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107" name="Text 15"/>
          <p:cNvSpPr/>
          <p:nvPr/>
        </p:nvSpPr>
        <p:spPr>
          <a:xfrm>
            <a:off x="1042560" y="3758040"/>
            <a:ext cx="4663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30" b="0" u="none" strike="noStrike">
                <a:solidFill>
                  <a:srgbClr val="1F2937"/>
                </a:solidFill>
                <a:effectLst/>
                <a:uFillTx/>
                <a:latin typeface="Arial"/>
                <a:ea typeface="Arial"/>
              </a:rPr>
              <a:t>Kiểm thử, sao lưu và đưa lên GitHub</a:t>
            </a:r>
            <a:endParaRPr lang="en-US" sz="1430" b="0" u="none" strike="noStrike">
              <a:solidFill>
                <a:srgbClr val="000000"/>
              </a:solidFill>
              <a:effectLst/>
              <a:uFillTx/>
              <a:latin typeface="Arial"/>
            </a:endParaRPr>
          </a:p>
        </p:txBody>
      </p:sp>
      <p:sp>
        <p:nvSpPr>
          <p:cNvPr id="108" name="Text 16"/>
          <p:cNvSpPr/>
          <p:nvPr/>
        </p:nvSpPr>
        <p:spPr>
          <a:xfrm>
            <a:off x="6400800" y="1417320"/>
            <a:ext cx="43887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18A558"/>
                </a:solidFill>
                <a:effectLst/>
                <a:uFillTx/>
                <a:latin typeface="Arial"/>
              </a:rPr>
              <a:t>Có trong phạm vi</a:t>
            </a:r>
            <a:endParaRPr lang="en-US" sz="2000" b="0" u="none" strike="noStrike">
              <a:solidFill>
                <a:srgbClr val="000000"/>
              </a:solidFill>
              <a:effectLst/>
              <a:uFillTx/>
              <a:latin typeface="Arial"/>
            </a:endParaRPr>
          </a:p>
        </p:txBody>
      </p:sp>
      <p:sp>
        <p:nvSpPr>
          <p:cNvPr id="109" name="Shape 17"/>
          <p:cNvSpPr/>
          <p:nvPr/>
        </p:nvSpPr>
        <p:spPr>
          <a:xfrm>
            <a:off x="6446520" y="1847160"/>
            <a:ext cx="4480200" cy="347040"/>
          </a:xfrm>
          <a:prstGeom prst="roundRect">
            <a:avLst>
              <a:gd name="adj" fmla="val 21053"/>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 name="Text 18"/>
          <p:cNvSpPr/>
          <p:nvPr/>
        </p:nvSpPr>
        <p:spPr>
          <a:xfrm>
            <a:off x="6556320" y="1920240"/>
            <a:ext cx="42606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0" u="none" strike="noStrike">
                <a:solidFill>
                  <a:srgbClr val="1F2937"/>
                </a:solidFill>
                <a:effectLst/>
                <a:uFillTx/>
                <a:latin typeface="Arial"/>
                <a:ea typeface="Arial"/>
              </a:rPr>
              <a:t>Giới thiệu Trung tâm</a:t>
            </a:r>
            <a:endParaRPr lang="en-US" sz="1250" b="0" u="none" strike="noStrike">
              <a:solidFill>
                <a:srgbClr val="000000"/>
              </a:solidFill>
              <a:effectLst/>
              <a:uFillTx/>
              <a:latin typeface="Arial"/>
            </a:endParaRPr>
          </a:p>
        </p:txBody>
      </p:sp>
      <p:sp>
        <p:nvSpPr>
          <p:cNvPr id="111" name="Shape 19"/>
          <p:cNvSpPr/>
          <p:nvPr/>
        </p:nvSpPr>
        <p:spPr>
          <a:xfrm>
            <a:off x="6446520" y="2350080"/>
            <a:ext cx="4480200" cy="347040"/>
          </a:xfrm>
          <a:prstGeom prst="roundRect">
            <a:avLst>
              <a:gd name="adj" fmla="val 21053"/>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 name="Text 20"/>
          <p:cNvSpPr/>
          <p:nvPr/>
        </p:nvSpPr>
        <p:spPr>
          <a:xfrm>
            <a:off x="6556320" y="2423160"/>
            <a:ext cx="42606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0" u="none" strike="noStrike">
                <a:solidFill>
                  <a:srgbClr val="1F2937"/>
                </a:solidFill>
                <a:effectLst/>
                <a:uFillTx/>
                <a:latin typeface="Arial"/>
                <a:ea typeface="Arial"/>
              </a:rPr>
              <a:t>Tin việc làm &amp; ngành nghề</a:t>
            </a:r>
            <a:endParaRPr lang="en-US" sz="1250" b="0" u="none" strike="noStrike">
              <a:solidFill>
                <a:srgbClr val="000000"/>
              </a:solidFill>
              <a:effectLst/>
              <a:uFillTx/>
              <a:latin typeface="Arial"/>
            </a:endParaRPr>
          </a:p>
        </p:txBody>
      </p:sp>
      <p:sp>
        <p:nvSpPr>
          <p:cNvPr id="113" name="Shape 21"/>
          <p:cNvSpPr/>
          <p:nvPr/>
        </p:nvSpPr>
        <p:spPr>
          <a:xfrm>
            <a:off x="6446520" y="2853000"/>
            <a:ext cx="4480200" cy="347040"/>
          </a:xfrm>
          <a:prstGeom prst="roundRect">
            <a:avLst>
              <a:gd name="adj" fmla="val 21053"/>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 name="Text 22"/>
          <p:cNvSpPr/>
          <p:nvPr/>
        </p:nvSpPr>
        <p:spPr>
          <a:xfrm>
            <a:off x="6556320" y="2926080"/>
            <a:ext cx="42606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0" u="none" strike="noStrike">
                <a:solidFill>
                  <a:srgbClr val="1F2937"/>
                </a:solidFill>
                <a:effectLst/>
                <a:uFillTx/>
                <a:latin typeface="Arial"/>
                <a:ea typeface="Arial"/>
              </a:rPr>
              <a:t>Nhà tuyển dụng, tin tức, liên hệ</a:t>
            </a:r>
            <a:endParaRPr lang="en-US" sz="1250" b="0" u="none" strike="noStrike">
              <a:solidFill>
                <a:srgbClr val="000000"/>
              </a:solidFill>
              <a:effectLst/>
              <a:uFillTx/>
              <a:latin typeface="Arial"/>
            </a:endParaRPr>
          </a:p>
        </p:txBody>
      </p:sp>
      <p:sp>
        <p:nvSpPr>
          <p:cNvPr id="115" name="Shape 23"/>
          <p:cNvSpPr/>
          <p:nvPr/>
        </p:nvSpPr>
        <p:spPr>
          <a:xfrm>
            <a:off x="6446520" y="3355920"/>
            <a:ext cx="4480200" cy="347040"/>
          </a:xfrm>
          <a:prstGeom prst="roundRect">
            <a:avLst>
              <a:gd name="adj" fmla="val 21053"/>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 name="Text 24"/>
          <p:cNvSpPr/>
          <p:nvPr/>
        </p:nvSpPr>
        <p:spPr>
          <a:xfrm>
            <a:off x="6556320" y="3429000"/>
            <a:ext cx="42606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0" u="none" strike="noStrike">
                <a:solidFill>
                  <a:srgbClr val="1F2937"/>
                </a:solidFill>
                <a:effectLst/>
                <a:uFillTx/>
                <a:latin typeface="Arial"/>
                <a:ea typeface="Arial"/>
              </a:rPr>
              <a:t>Tìm kiếm/lọc cơ bản</a:t>
            </a:r>
            <a:endParaRPr lang="en-US" sz="1250" b="0" u="none" strike="noStrike">
              <a:solidFill>
                <a:srgbClr val="000000"/>
              </a:solidFill>
              <a:effectLst/>
              <a:uFillTx/>
              <a:latin typeface="Arial"/>
            </a:endParaRPr>
          </a:p>
        </p:txBody>
      </p:sp>
      <p:sp>
        <p:nvSpPr>
          <p:cNvPr id="117" name="Shape 25"/>
          <p:cNvSpPr/>
          <p:nvPr/>
        </p:nvSpPr>
        <p:spPr>
          <a:xfrm>
            <a:off x="6446520" y="3858840"/>
            <a:ext cx="4480200" cy="347040"/>
          </a:xfrm>
          <a:prstGeom prst="roundRect">
            <a:avLst>
              <a:gd name="adj" fmla="val 21053"/>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Text 26"/>
          <p:cNvSpPr/>
          <p:nvPr/>
        </p:nvSpPr>
        <p:spPr>
          <a:xfrm>
            <a:off x="6556320" y="3931920"/>
            <a:ext cx="42606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0" u="none" strike="noStrike">
                <a:solidFill>
                  <a:srgbClr val="1F2937"/>
                </a:solidFill>
                <a:effectLst/>
                <a:uFillTx/>
                <a:latin typeface="Arial"/>
                <a:ea typeface="Arial"/>
              </a:rPr>
              <a:t>Quản trị Joomla + backup</a:t>
            </a:r>
            <a:endParaRPr lang="en-US" sz="1250" b="0" u="none" strike="noStrike">
              <a:solidFill>
                <a:srgbClr val="000000"/>
              </a:solidFill>
              <a:effectLst/>
              <a:uFillTx/>
              <a:latin typeface="Arial"/>
            </a:endParaRPr>
          </a:p>
        </p:txBody>
      </p:sp>
      <p:sp>
        <p:nvSpPr>
          <p:cNvPr id="119" name="Text 27"/>
          <p:cNvSpPr/>
          <p:nvPr/>
        </p:nvSpPr>
        <p:spPr>
          <a:xfrm>
            <a:off x="6400800" y="4681800"/>
            <a:ext cx="4388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50" b="1" u="none" strike="noStrike">
                <a:solidFill>
                  <a:srgbClr val="F58220"/>
                </a:solidFill>
                <a:effectLst/>
                <a:uFillTx/>
                <a:latin typeface="Arial"/>
              </a:rPr>
              <a:t>Không triển khai sâu</a:t>
            </a:r>
            <a:endParaRPr lang="en-US" sz="1650" b="0" u="none" strike="noStrike">
              <a:solidFill>
                <a:srgbClr val="000000"/>
              </a:solidFill>
              <a:effectLst/>
              <a:uFillTx/>
              <a:latin typeface="Arial"/>
            </a:endParaRPr>
          </a:p>
        </p:txBody>
      </p:sp>
      <p:sp>
        <p:nvSpPr>
          <p:cNvPr id="120" name="Text 28"/>
          <p:cNvSpPr/>
          <p:nvPr/>
        </p:nvSpPr>
        <p:spPr>
          <a:xfrm>
            <a:off x="6446520" y="5010840"/>
            <a:ext cx="44802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40" b="0" u="none" strike="noStrike">
                <a:solidFill>
                  <a:srgbClr val="64748B"/>
                </a:solidFill>
                <a:effectLst/>
                <a:uFillTx/>
                <a:latin typeface="Arial"/>
              </a:rPr>
              <a:t>Ứng tuyển online hoàn chỉnh · tài khoản nhà tuyển dụng tự đăng tin · quản lý CV chuyên sâu · hosting Internet chính thức.</a:t>
            </a:r>
            <a:endParaRPr lang="en-US" sz="1240" b="0" u="none" strike="noStrike">
              <a:solidFill>
                <a:srgbClr val="000000"/>
              </a:solidFill>
              <a:effectLst/>
              <a:uFillTx/>
              <a:latin typeface="Arial"/>
            </a:endParaRPr>
          </a:p>
        </p:txBody>
      </p:sp>
      <p:sp>
        <p:nvSpPr>
          <p:cNvPr id="121" name="Text 29"/>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122" name="PlaceHolder 1"/>
          <p:cNvSpPr>
            <a:spLocks noGrp="1"/>
          </p:cNvSpPr>
          <p:nvPr>
            <p:ph type="sldNum" idx="8"/>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53C7B8EB-9368-488E-B018-E2BB5111E536}" type="slidenum">
              <a:rPr lang="en-US" sz="800" b="0" u="none" strike="noStrike">
                <a:solidFill>
                  <a:srgbClr val="8392A5"/>
                </a:solidFill>
                <a:effectLst/>
                <a:uFillTx/>
                <a:latin typeface="Arial"/>
                <a:ea typeface="Arial"/>
              </a:rPr>
              <a:t>4</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55420"/>
    </mc:Choice>
    <mc:Fallback xmlns="">
      <p:transition spd="slow" advTm="5542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123"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4"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CÔNG NGHỆ</a:t>
            </a:r>
            <a:endParaRPr lang="en-US" sz="880" b="0" u="none" strike="noStrike">
              <a:solidFill>
                <a:srgbClr val="000000"/>
              </a:solidFill>
              <a:effectLst/>
              <a:uFillTx/>
              <a:latin typeface="Arial"/>
            </a:endParaRPr>
          </a:p>
        </p:txBody>
      </p:sp>
      <p:sp>
        <p:nvSpPr>
          <p:cNvPr id="125"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Công nghệ và môi trường thực hiện</a:t>
            </a:r>
            <a:endParaRPr lang="en-US" sz="2800" b="0" u="none" strike="noStrike">
              <a:solidFill>
                <a:srgbClr val="000000"/>
              </a:solidFill>
              <a:effectLst/>
              <a:uFillTx/>
              <a:latin typeface="Arial"/>
            </a:endParaRPr>
          </a:p>
        </p:txBody>
      </p:sp>
      <p:sp>
        <p:nvSpPr>
          <p:cNvPr id="126"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Bộ công cụ được dùng để xây dựng, chạy thử và quản lý mã nguồn</a:t>
            </a:r>
            <a:endParaRPr lang="en-US" sz="1050" b="0" u="none" strike="noStrike">
              <a:solidFill>
                <a:srgbClr val="000000"/>
              </a:solidFill>
              <a:effectLst/>
              <a:uFillTx/>
              <a:latin typeface="Arial"/>
            </a:endParaRPr>
          </a:p>
        </p:txBody>
      </p:sp>
      <p:sp>
        <p:nvSpPr>
          <p:cNvPr id="127"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8" name="Shape 5"/>
          <p:cNvSpPr/>
          <p:nvPr/>
        </p:nvSpPr>
        <p:spPr>
          <a:xfrm>
            <a:off x="777240" y="1353240"/>
            <a:ext cx="10606680" cy="621360"/>
          </a:xfrm>
          <a:prstGeom prst="roundRect">
            <a:avLst>
              <a:gd name="adj" fmla="val 5882"/>
            </a:avLst>
          </a:prstGeom>
          <a:solidFill>
            <a:srgbClr val="FFFFFF"/>
          </a:solidFill>
          <a:ln w="889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 name="Text 6"/>
          <p:cNvSpPr/>
          <p:nvPr/>
        </p:nvSpPr>
        <p:spPr>
          <a:xfrm>
            <a:off x="960120" y="1536120"/>
            <a:ext cx="1051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60" b="1" u="none" strike="noStrike">
                <a:solidFill>
                  <a:srgbClr val="18A558"/>
                </a:solidFill>
                <a:effectLst/>
                <a:uFillTx/>
                <a:latin typeface="Arial"/>
              </a:rPr>
              <a:t>CMS</a:t>
            </a:r>
            <a:endParaRPr lang="en-US" sz="1060" b="0" u="none" strike="noStrike">
              <a:solidFill>
                <a:srgbClr val="000000"/>
              </a:solidFill>
              <a:effectLst/>
              <a:uFillTx/>
              <a:latin typeface="Arial"/>
            </a:endParaRPr>
          </a:p>
        </p:txBody>
      </p:sp>
      <p:sp>
        <p:nvSpPr>
          <p:cNvPr id="130" name="Text 7"/>
          <p:cNvSpPr/>
          <p:nvPr/>
        </p:nvSpPr>
        <p:spPr>
          <a:xfrm>
            <a:off x="2176200" y="149976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E59"/>
                </a:solidFill>
                <a:effectLst/>
                <a:uFillTx/>
                <a:latin typeface="Arial"/>
              </a:rPr>
              <a:t>Joomla 5.4.7</a:t>
            </a:r>
            <a:endParaRPr lang="en-US" sz="1550" b="0" u="none" strike="noStrike">
              <a:solidFill>
                <a:srgbClr val="000000"/>
              </a:solidFill>
              <a:effectLst/>
              <a:uFillTx/>
              <a:latin typeface="Arial"/>
            </a:endParaRPr>
          </a:p>
        </p:txBody>
      </p:sp>
      <p:sp>
        <p:nvSpPr>
          <p:cNvPr id="131" name="Text 8"/>
          <p:cNvSpPr/>
          <p:nvPr/>
        </p:nvSpPr>
        <p:spPr>
          <a:xfrm>
            <a:off x="4846320" y="1499760"/>
            <a:ext cx="6171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40" b="0" u="none" strike="noStrike">
                <a:solidFill>
                  <a:srgbClr val="1F2937"/>
                </a:solidFill>
                <a:effectLst/>
                <a:uFillTx/>
                <a:latin typeface="Arial"/>
              </a:rPr>
              <a:t>Quản lý bài viết, danh mục, menu, module</a:t>
            </a:r>
            <a:endParaRPr lang="en-US" sz="1340" b="0" u="none" strike="noStrike">
              <a:solidFill>
                <a:srgbClr val="000000"/>
              </a:solidFill>
              <a:effectLst/>
              <a:uFillTx/>
              <a:latin typeface="Arial"/>
            </a:endParaRPr>
          </a:p>
        </p:txBody>
      </p:sp>
      <p:sp>
        <p:nvSpPr>
          <p:cNvPr id="132" name="Shape 9"/>
          <p:cNvSpPr/>
          <p:nvPr/>
        </p:nvSpPr>
        <p:spPr>
          <a:xfrm>
            <a:off x="777240" y="2066400"/>
            <a:ext cx="10606680" cy="621360"/>
          </a:xfrm>
          <a:prstGeom prst="roundRect">
            <a:avLst>
              <a:gd name="adj" fmla="val 5882"/>
            </a:avLst>
          </a:prstGeom>
          <a:solidFill>
            <a:srgbClr val="F1F7FF"/>
          </a:solidFill>
          <a:ln w="889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 name="Text 10"/>
          <p:cNvSpPr/>
          <p:nvPr/>
        </p:nvSpPr>
        <p:spPr>
          <a:xfrm>
            <a:off x="960120" y="2249280"/>
            <a:ext cx="1051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60" b="1" u="none" strike="noStrike">
                <a:solidFill>
                  <a:srgbClr val="18A558"/>
                </a:solidFill>
                <a:effectLst/>
                <a:uFillTx/>
                <a:latin typeface="Arial"/>
              </a:rPr>
              <a:t>Giao diện</a:t>
            </a:r>
            <a:endParaRPr lang="en-US" sz="1060" b="0" u="none" strike="noStrike">
              <a:solidFill>
                <a:srgbClr val="000000"/>
              </a:solidFill>
              <a:effectLst/>
              <a:uFillTx/>
              <a:latin typeface="Arial"/>
            </a:endParaRPr>
          </a:p>
        </p:txBody>
      </p:sp>
      <p:sp>
        <p:nvSpPr>
          <p:cNvPr id="134" name="Text 11"/>
          <p:cNvSpPr/>
          <p:nvPr/>
        </p:nvSpPr>
        <p:spPr>
          <a:xfrm>
            <a:off x="2176200" y="221292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E59"/>
                </a:solidFill>
                <a:effectLst/>
                <a:uFillTx/>
                <a:latin typeface="Arial"/>
              </a:rPr>
              <a:t>Cassiopeia + user.css</a:t>
            </a:r>
            <a:endParaRPr lang="en-US" sz="1550" b="0" u="none" strike="noStrike">
              <a:solidFill>
                <a:srgbClr val="000000"/>
              </a:solidFill>
              <a:effectLst/>
              <a:uFillTx/>
              <a:latin typeface="Arial"/>
            </a:endParaRPr>
          </a:p>
        </p:txBody>
      </p:sp>
      <p:sp>
        <p:nvSpPr>
          <p:cNvPr id="135" name="Text 12"/>
          <p:cNvSpPr/>
          <p:nvPr/>
        </p:nvSpPr>
        <p:spPr>
          <a:xfrm>
            <a:off x="4846320" y="2212920"/>
            <a:ext cx="6171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40" b="0" u="none" strike="noStrike">
                <a:solidFill>
                  <a:srgbClr val="1F2937"/>
                </a:solidFill>
                <a:effectLst/>
                <a:uFillTx/>
                <a:latin typeface="Arial"/>
              </a:rPr>
              <a:t>Tùy chỉnh màu sắc, bố cục, header/footer</a:t>
            </a:r>
            <a:endParaRPr lang="en-US" sz="1340" b="0" u="none" strike="noStrike">
              <a:solidFill>
                <a:srgbClr val="000000"/>
              </a:solidFill>
              <a:effectLst/>
              <a:uFillTx/>
              <a:latin typeface="Arial"/>
            </a:endParaRPr>
          </a:p>
        </p:txBody>
      </p:sp>
      <p:sp>
        <p:nvSpPr>
          <p:cNvPr id="136" name="Shape 13"/>
          <p:cNvSpPr/>
          <p:nvPr/>
        </p:nvSpPr>
        <p:spPr>
          <a:xfrm>
            <a:off x="777240" y="2779920"/>
            <a:ext cx="10606680" cy="621360"/>
          </a:xfrm>
          <a:prstGeom prst="roundRect">
            <a:avLst>
              <a:gd name="adj" fmla="val 5882"/>
            </a:avLst>
          </a:prstGeom>
          <a:solidFill>
            <a:srgbClr val="FFFFFF"/>
          </a:solidFill>
          <a:ln w="889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 name="Text 14"/>
          <p:cNvSpPr/>
          <p:nvPr/>
        </p:nvSpPr>
        <p:spPr>
          <a:xfrm>
            <a:off x="960120" y="2962800"/>
            <a:ext cx="1051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60" b="1" u="none" strike="noStrike">
                <a:solidFill>
                  <a:srgbClr val="18A558"/>
                </a:solidFill>
                <a:effectLst/>
                <a:uFillTx/>
                <a:latin typeface="Arial"/>
              </a:rPr>
              <a:t>Tìm kiếm</a:t>
            </a:r>
            <a:endParaRPr lang="en-US" sz="1060" b="0" u="none" strike="noStrike">
              <a:solidFill>
                <a:srgbClr val="000000"/>
              </a:solidFill>
              <a:effectLst/>
              <a:uFillTx/>
              <a:latin typeface="Arial"/>
            </a:endParaRPr>
          </a:p>
        </p:txBody>
      </p:sp>
      <p:sp>
        <p:nvSpPr>
          <p:cNvPr id="138" name="Text 15"/>
          <p:cNvSpPr/>
          <p:nvPr/>
        </p:nvSpPr>
        <p:spPr>
          <a:xfrm>
            <a:off x="2176200" y="29260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E59"/>
                </a:solidFill>
                <a:effectLst/>
                <a:uFillTx/>
                <a:latin typeface="Arial"/>
              </a:rPr>
              <a:t>Smart Search</a:t>
            </a:r>
            <a:endParaRPr lang="en-US" sz="1550" b="0" u="none" strike="noStrike">
              <a:solidFill>
                <a:srgbClr val="000000"/>
              </a:solidFill>
              <a:effectLst/>
              <a:uFillTx/>
              <a:latin typeface="Arial"/>
            </a:endParaRPr>
          </a:p>
        </p:txBody>
      </p:sp>
      <p:sp>
        <p:nvSpPr>
          <p:cNvPr id="139" name="Text 16"/>
          <p:cNvSpPr/>
          <p:nvPr/>
        </p:nvSpPr>
        <p:spPr>
          <a:xfrm>
            <a:off x="4846320" y="2926080"/>
            <a:ext cx="6171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40" b="0" u="none" strike="noStrike">
                <a:solidFill>
                  <a:srgbClr val="1F2937"/>
                </a:solidFill>
                <a:effectLst/>
                <a:uFillTx/>
                <a:latin typeface="Arial"/>
              </a:rPr>
              <a:t>Lập chỉ mục và tìm nội dung</a:t>
            </a:r>
            <a:endParaRPr lang="en-US" sz="1340" b="0" u="none" strike="noStrike">
              <a:solidFill>
                <a:srgbClr val="000000"/>
              </a:solidFill>
              <a:effectLst/>
              <a:uFillTx/>
              <a:latin typeface="Arial"/>
            </a:endParaRPr>
          </a:p>
        </p:txBody>
      </p:sp>
      <p:sp>
        <p:nvSpPr>
          <p:cNvPr id="140" name="Shape 17"/>
          <p:cNvSpPr/>
          <p:nvPr/>
        </p:nvSpPr>
        <p:spPr>
          <a:xfrm>
            <a:off x="777240" y="3493080"/>
            <a:ext cx="10606680" cy="621360"/>
          </a:xfrm>
          <a:prstGeom prst="roundRect">
            <a:avLst>
              <a:gd name="adj" fmla="val 5882"/>
            </a:avLst>
          </a:prstGeom>
          <a:solidFill>
            <a:srgbClr val="F1F7FF"/>
          </a:solidFill>
          <a:ln w="889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1" name="Text 18"/>
          <p:cNvSpPr/>
          <p:nvPr/>
        </p:nvSpPr>
        <p:spPr>
          <a:xfrm>
            <a:off x="960120" y="3675960"/>
            <a:ext cx="1051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60" b="1" u="none" strike="noStrike">
                <a:solidFill>
                  <a:srgbClr val="18A558"/>
                </a:solidFill>
                <a:effectLst/>
                <a:uFillTx/>
                <a:latin typeface="Arial"/>
              </a:rPr>
              <a:t>Máy chủ local</a:t>
            </a:r>
            <a:endParaRPr lang="en-US" sz="1060" b="0" u="none" strike="noStrike">
              <a:solidFill>
                <a:srgbClr val="000000"/>
              </a:solidFill>
              <a:effectLst/>
              <a:uFillTx/>
              <a:latin typeface="Arial"/>
            </a:endParaRPr>
          </a:p>
        </p:txBody>
      </p:sp>
      <p:sp>
        <p:nvSpPr>
          <p:cNvPr id="142" name="Text 19"/>
          <p:cNvSpPr/>
          <p:nvPr/>
        </p:nvSpPr>
        <p:spPr>
          <a:xfrm>
            <a:off x="2176200" y="363924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E59"/>
                </a:solidFill>
                <a:effectLst/>
                <a:uFillTx/>
                <a:latin typeface="Arial"/>
              </a:rPr>
              <a:t>XAMPP</a:t>
            </a:r>
            <a:endParaRPr lang="en-US" sz="1550" b="0" u="none" strike="noStrike">
              <a:solidFill>
                <a:srgbClr val="000000"/>
              </a:solidFill>
              <a:effectLst/>
              <a:uFillTx/>
              <a:latin typeface="Arial"/>
            </a:endParaRPr>
          </a:p>
        </p:txBody>
      </p:sp>
      <p:sp>
        <p:nvSpPr>
          <p:cNvPr id="143" name="Text 20"/>
          <p:cNvSpPr/>
          <p:nvPr/>
        </p:nvSpPr>
        <p:spPr>
          <a:xfrm>
            <a:off x="4846320" y="3639240"/>
            <a:ext cx="6171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40" b="0" u="none" strike="noStrike">
                <a:solidFill>
                  <a:srgbClr val="1F2937"/>
                </a:solidFill>
                <a:effectLst/>
                <a:uFillTx/>
                <a:latin typeface="Arial"/>
              </a:rPr>
              <a:t>Apache, PHP, MariaDB trên máy cá nhân</a:t>
            </a:r>
            <a:endParaRPr lang="en-US" sz="1340" b="0" u="none" strike="noStrike">
              <a:solidFill>
                <a:srgbClr val="000000"/>
              </a:solidFill>
              <a:effectLst/>
              <a:uFillTx/>
              <a:latin typeface="Arial"/>
            </a:endParaRPr>
          </a:p>
        </p:txBody>
      </p:sp>
      <p:sp>
        <p:nvSpPr>
          <p:cNvPr id="144" name="Shape 21"/>
          <p:cNvSpPr/>
          <p:nvPr/>
        </p:nvSpPr>
        <p:spPr>
          <a:xfrm>
            <a:off x="777240" y="4206240"/>
            <a:ext cx="10606680" cy="621360"/>
          </a:xfrm>
          <a:prstGeom prst="roundRect">
            <a:avLst>
              <a:gd name="adj" fmla="val 5882"/>
            </a:avLst>
          </a:prstGeom>
          <a:solidFill>
            <a:srgbClr val="FFFFFF"/>
          </a:solidFill>
          <a:ln w="889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22"/>
          <p:cNvSpPr/>
          <p:nvPr/>
        </p:nvSpPr>
        <p:spPr>
          <a:xfrm>
            <a:off x="960120" y="4389120"/>
            <a:ext cx="1051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60" b="1" u="none" strike="noStrike">
                <a:solidFill>
                  <a:srgbClr val="18A558"/>
                </a:solidFill>
                <a:effectLst/>
                <a:uFillTx/>
                <a:latin typeface="Arial"/>
              </a:rPr>
              <a:t>CSDL</a:t>
            </a:r>
            <a:endParaRPr lang="en-US" sz="1060" b="0" u="none" strike="noStrike">
              <a:solidFill>
                <a:srgbClr val="000000"/>
              </a:solidFill>
              <a:effectLst/>
              <a:uFillTx/>
              <a:latin typeface="Arial"/>
            </a:endParaRPr>
          </a:p>
        </p:txBody>
      </p:sp>
      <p:sp>
        <p:nvSpPr>
          <p:cNvPr id="146" name="Text 23"/>
          <p:cNvSpPr/>
          <p:nvPr/>
        </p:nvSpPr>
        <p:spPr>
          <a:xfrm>
            <a:off x="2176200" y="435240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E59"/>
                </a:solidFill>
                <a:effectLst/>
                <a:uFillTx/>
                <a:latin typeface="Arial"/>
              </a:rPr>
              <a:t>MariaDB + phpMyAdmin</a:t>
            </a:r>
            <a:endParaRPr lang="en-US" sz="1550" b="0" u="none" strike="noStrike">
              <a:solidFill>
                <a:srgbClr val="000000"/>
              </a:solidFill>
              <a:effectLst/>
              <a:uFillTx/>
              <a:latin typeface="Arial"/>
            </a:endParaRPr>
          </a:p>
        </p:txBody>
      </p:sp>
      <p:sp>
        <p:nvSpPr>
          <p:cNvPr id="147" name="Text 24"/>
          <p:cNvSpPr/>
          <p:nvPr/>
        </p:nvSpPr>
        <p:spPr>
          <a:xfrm>
            <a:off x="4846320" y="4352400"/>
            <a:ext cx="6171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40" b="0" u="none" strike="noStrike">
                <a:solidFill>
                  <a:srgbClr val="1F2937"/>
                </a:solidFill>
                <a:effectLst/>
                <a:uFillTx/>
                <a:latin typeface="Arial"/>
              </a:rPr>
              <a:t>Lưu bài viết, menu, module, người dùng</a:t>
            </a:r>
            <a:endParaRPr lang="en-US" sz="1340" b="0" u="none" strike="noStrike">
              <a:solidFill>
                <a:srgbClr val="000000"/>
              </a:solidFill>
              <a:effectLst/>
              <a:uFillTx/>
              <a:latin typeface="Arial"/>
            </a:endParaRPr>
          </a:p>
        </p:txBody>
      </p:sp>
      <p:sp>
        <p:nvSpPr>
          <p:cNvPr id="148" name="Shape 25"/>
          <p:cNvSpPr/>
          <p:nvPr/>
        </p:nvSpPr>
        <p:spPr>
          <a:xfrm>
            <a:off x="777240" y="4919400"/>
            <a:ext cx="10606680" cy="621360"/>
          </a:xfrm>
          <a:prstGeom prst="roundRect">
            <a:avLst>
              <a:gd name="adj" fmla="val 5882"/>
            </a:avLst>
          </a:prstGeom>
          <a:solidFill>
            <a:srgbClr val="F1F7FF"/>
          </a:solidFill>
          <a:ln w="889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 name="Text 26"/>
          <p:cNvSpPr/>
          <p:nvPr/>
        </p:nvSpPr>
        <p:spPr>
          <a:xfrm>
            <a:off x="960120" y="5102280"/>
            <a:ext cx="1051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60" b="1" u="none" strike="noStrike">
                <a:solidFill>
                  <a:srgbClr val="18A558"/>
                </a:solidFill>
                <a:effectLst/>
                <a:uFillTx/>
                <a:latin typeface="Arial"/>
              </a:rPr>
              <a:t>Quản lý phiên bản</a:t>
            </a:r>
            <a:endParaRPr lang="en-US" sz="1060" b="0" u="none" strike="noStrike">
              <a:solidFill>
                <a:srgbClr val="000000"/>
              </a:solidFill>
              <a:effectLst/>
              <a:uFillTx/>
              <a:latin typeface="Arial"/>
            </a:endParaRPr>
          </a:p>
        </p:txBody>
      </p:sp>
      <p:sp>
        <p:nvSpPr>
          <p:cNvPr id="150" name="Text 27"/>
          <p:cNvSpPr/>
          <p:nvPr/>
        </p:nvSpPr>
        <p:spPr>
          <a:xfrm>
            <a:off x="2176200" y="506592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E59"/>
                </a:solidFill>
                <a:effectLst/>
                <a:uFillTx/>
                <a:latin typeface="Arial"/>
              </a:rPr>
              <a:t>Git + GitHub</a:t>
            </a:r>
            <a:endParaRPr lang="en-US" sz="1550" b="0" u="none" strike="noStrike">
              <a:solidFill>
                <a:srgbClr val="000000"/>
              </a:solidFill>
              <a:effectLst/>
              <a:uFillTx/>
              <a:latin typeface="Arial"/>
            </a:endParaRPr>
          </a:p>
        </p:txBody>
      </p:sp>
      <p:sp>
        <p:nvSpPr>
          <p:cNvPr id="151" name="Text 28"/>
          <p:cNvSpPr/>
          <p:nvPr/>
        </p:nvSpPr>
        <p:spPr>
          <a:xfrm>
            <a:off x="4846320" y="5065920"/>
            <a:ext cx="6171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40" b="0" u="none" strike="noStrike">
                <a:solidFill>
                  <a:srgbClr val="1F2937"/>
                </a:solidFill>
                <a:effectLst/>
                <a:uFillTx/>
                <a:latin typeface="Arial"/>
              </a:rPr>
              <a:t>Lưu vết tiến độ và mã nguồn</a:t>
            </a:r>
            <a:endParaRPr lang="en-US" sz="1340" b="0" u="none" strike="noStrike">
              <a:solidFill>
                <a:srgbClr val="000000"/>
              </a:solidFill>
              <a:effectLst/>
              <a:uFillTx/>
              <a:latin typeface="Arial"/>
            </a:endParaRPr>
          </a:p>
        </p:txBody>
      </p:sp>
      <p:sp>
        <p:nvSpPr>
          <p:cNvPr id="152" name="Text 29"/>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153" name="PlaceHolder 1"/>
          <p:cNvSpPr>
            <a:spLocks noGrp="1"/>
          </p:cNvSpPr>
          <p:nvPr>
            <p:ph type="sldNum" idx="9"/>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A069405F-131E-482F-AB6F-CCE56FDD890E}" type="slidenum">
              <a:rPr lang="en-US" sz="800" b="0" u="none" strike="noStrike">
                <a:solidFill>
                  <a:srgbClr val="8392A5"/>
                </a:solidFill>
                <a:effectLst/>
                <a:uFillTx/>
                <a:latin typeface="Arial"/>
                <a:ea typeface="Arial"/>
              </a:rPr>
              <a:t>5</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45676"/>
    </mc:Choice>
    <mc:Fallback xmlns="">
      <p:transition spd="slow" advTm="4567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154"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5"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JOOMLA CMS</a:t>
            </a:r>
            <a:endParaRPr lang="en-US" sz="880" b="0" u="none" strike="noStrike">
              <a:solidFill>
                <a:srgbClr val="000000"/>
              </a:solidFill>
              <a:effectLst/>
              <a:uFillTx/>
              <a:latin typeface="Arial"/>
            </a:endParaRPr>
          </a:p>
        </p:txBody>
      </p:sp>
      <p:sp>
        <p:nvSpPr>
          <p:cNvPr id="156"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Các thành phần Joomla được sử dụng</a:t>
            </a:r>
            <a:endParaRPr lang="en-US" sz="2800" b="0" u="none" strike="noStrike">
              <a:solidFill>
                <a:srgbClr val="000000"/>
              </a:solidFill>
              <a:effectLst/>
              <a:uFillTx/>
              <a:latin typeface="Arial"/>
            </a:endParaRPr>
          </a:p>
        </p:txBody>
      </p:sp>
      <p:sp>
        <p:nvSpPr>
          <p:cNvPr id="157"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Tập trung vào khả năng quản trị nội dung có sẵn của Joomla</a:t>
            </a:r>
            <a:endParaRPr lang="en-US" sz="1050" b="0" u="none" strike="noStrike">
              <a:solidFill>
                <a:srgbClr val="000000"/>
              </a:solidFill>
              <a:effectLst/>
              <a:uFillTx/>
              <a:latin typeface="Arial"/>
            </a:endParaRPr>
          </a:p>
        </p:txBody>
      </p:sp>
      <p:sp>
        <p:nvSpPr>
          <p:cNvPr id="158"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9" name="Shape 5"/>
          <p:cNvSpPr/>
          <p:nvPr/>
        </p:nvSpPr>
        <p:spPr>
          <a:xfrm>
            <a:off x="2057400" y="3063240"/>
            <a:ext cx="182880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0" name="Shape 6"/>
          <p:cNvSpPr/>
          <p:nvPr/>
        </p:nvSpPr>
        <p:spPr>
          <a:xfrm>
            <a:off x="4736520" y="3063240"/>
            <a:ext cx="182880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1" name="Shape 7"/>
          <p:cNvSpPr/>
          <p:nvPr/>
        </p:nvSpPr>
        <p:spPr>
          <a:xfrm>
            <a:off x="7406640" y="3063240"/>
            <a:ext cx="182880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2" name="Shape 8"/>
          <p:cNvSpPr/>
          <p:nvPr/>
        </p:nvSpPr>
        <p:spPr>
          <a:xfrm>
            <a:off x="5778720" y="3456360"/>
            <a:ext cx="360" cy="91440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63" name="Shape 9"/>
          <p:cNvSpPr/>
          <p:nvPr/>
        </p:nvSpPr>
        <p:spPr>
          <a:xfrm>
            <a:off x="822960" y="2560320"/>
            <a:ext cx="1599840" cy="1005480"/>
          </a:xfrm>
          <a:prstGeom prst="roundRect">
            <a:avLst>
              <a:gd name="adj" fmla="val 7273"/>
            </a:avLst>
          </a:prstGeom>
          <a:solidFill>
            <a:srgbClr val="EAF4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4" name="Text 10"/>
          <p:cNvSpPr/>
          <p:nvPr/>
        </p:nvSpPr>
        <p:spPr>
          <a:xfrm>
            <a:off x="932760" y="2633400"/>
            <a:ext cx="138024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0B4F9C"/>
                </a:solidFill>
                <a:effectLst/>
                <a:uFillTx/>
                <a:latin typeface="Arial"/>
                <a:ea typeface="Arial"/>
              </a:rPr>
              <a:t>Articles</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0B4F9C"/>
                </a:solidFill>
                <a:effectLst/>
                <a:uFillTx/>
                <a:latin typeface="Arial"/>
                <a:ea typeface="Arial"/>
              </a:rPr>
              <a:t>Bài viết</a:t>
            </a:r>
            <a:endParaRPr lang="en-US" sz="1320" b="0" u="none" strike="noStrike">
              <a:solidFill>
                <a:srgbClr val="000000"/>
              </a:solidFill>
              <a:effectLst/>
              <a:uFillTx/>
              <a:latin typeface="Arial"/>
            </a:endParaRPr>
          </a:p>
        </p:txBody>
      </p:sp>
      <p:sp>
        <p:nvSpPr>
          <p:cNvPr id="165" name="Shape 11"/>
          <p:cNvSpPr/>
          <p:nvPr/>
        </p:nvSpPr>
        <p:spPr>
          <a:xfrm>
            <a:off x="3447360" y="2560320"/>
            <a:ext cx="1599840" cy="1005480"/>
          </a:xfrm>
          <a:prstGeom prst="roundRect">
            <a:avLst>
              <a:gd name="adj" fmla="val 7273"/>
            </a:avLst>
          </a:prstGeom>
          <a:solidFill>
            <a:srgbClr val="F1FBF5"/>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 name="Text 12"/>
          <p:cNvSpPr/>
          <p:nvPr/>
        </p:nvSpPr>
        <p:spPr>
          <a:xfrm>
            <a:off x="3557160" y="2633400"/>
            <a:ext cx="138024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8A558"/>
                </a:solidFill>
                <a:effectLst/>
                <a:uFillTx/>
                <a:latin typeface="Arial"/>
                <a:ea typeface="Arial"/>
              </a:rPr>
              <a:t>Categories</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8A558"/>
                </a:solidFill>
                <a:effectLst/>
                <a:uFillTx/>
                <a:latin typeface="Arial"/>
                <a:ea typeface="Arial"/>
              </a:rPr>
              <a:t>Danh mục</a:t>
            </a:r>
            <a:endParaRPr lang="en-US" sz="1320" b="0" u="none" strike="noStrike">
              <a:solidFill>
                <a:srgbClr val="000000"/>
              </a:solidFill>
              <a:effectLst/>
              <a:uFillTx/>
              <a:latin typeface="Arial"/>
            </a:endParaRPr>
          </a:p>
        </p:txBody>
      </p:sp>
      <p:sp>
        <p:nvSpPr>
          <p:cNvPr id="167" name="Shape 13"/>
          <p:cNvSpPr/>
          <p:nvPr/>
        </p:nvSpPr>
        <p:spPr>
          <a:xfrm>
            <a:off x="6080760" y="2560320"/>
            <a:ext cx="1599840" cy="1005480"/>
          </a:xfrm>
          <a:prstGeom prst="roundRect">
            <a:avLst>
              <a:gd name="adj" fmla="val 7273"/>
            </a:avLst>
          </a:prstGeom>
          <a:solidFill>
            <a:srgbClr val="FFF4E6"/>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8" name="Text 14"/>
          <p:cNvSpPr/>
          <p:nvPr/>
        </p:nvSpPr>
        <p:spPr>
          <a:xfrm>
            <a:off x="6190560" y="2633400"/>
            <a:ext cx="138024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F58220"/>
                </a:solidFill>
                <a:effectLst/>
                <a:uFillTx/>
                <a:latin typeface="Arial"/>
                <a:ea typeface="Arial"/>
              </a:rPr>
              <a:t>Menus</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F58220"/>
                </a:solidFill>
                <a:effectLst/>
                <a:uFillTx/>
                <a:latin typeface="Arial"/>
                <a:ea typeface="Arial"/>
              </a:rPr>
              <a:t>Điều hướng</a:t>
            </a:r>
            <a:endParaRPr lang="en-US" sz="1320" b="0" u="none" strike="noStrike">
              <a:solidFill>
                <a:srgbClr val="000000"/>
              </a:solidFill>
              <a:effectLst/>
              <a:uFillTx/>
              <a:latin typeface="Arial"/>
            </a:endParaRPr>
          </a:p>
        </p:txBody>
      </p:sp>
      <p:sp>
        <p:nvSpPr>
          <p:cNvPr id="169" name="Shape 15"/>
          <p:cNvSpPr/>
          <p:nvPr/>
        </p:nvSpPr>
        <p:spPr>
          <a:xfrm>
            <a:off x="8732520" y="2560320"/>
            <a:ext cx="1599840" cy="1005480"/>
          </a:xfrm>
          <a:prstGeom prst="roundRect">
            <a:avLst>
              <a:gd name="adj" fmla="val 7273"/>
            </a:avLst>
          </a:prstGeom>
          <a:solidFill>
            <a:srgbClr val="EDE9FE"/>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Text 16"/>
          <p:cNvSpPr/>
          <p:nvPr/>
        </p:nvSpPr>
        <p:spPr>
          <a:xfrm>
            <a:off x="8842320" y="2633400"/>
            <a:ext cx="138024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6D28D9"/>
                </a:solidFill>
                <a:effectLst/>
                <a:uFillTx/>
                <a:latin typeface="Arial"/>
                <a:ea typeface="Arial"/>
              </a:rPr>
              <a:t>Modules</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6D28D9"/>
                </a:solidFill>
                <a:effectLst/>
                <a:uFillTx/>
                <a:latin typeface="Arial"/>
                <a:ea typeface="Arial"/>
              </a:rPr>
              <a:t>Khối nội dung</a:t>
            </a:r>
            <a:endParaRPr lang="en-US" sz="1320" b="0" u="none" strike="noStrike">
              <a:solidFill>
                <a:srgbClr val="000000"/>
              </a:solidFill>
              <a:effectLst/>
              <a:uFillTx/>
              <a:latin typeface="Arial"/>
            </a:endParaRPr>
          </a:p>
        </p:txBody>
      </p:sp>
      <p:sp>
        <p:nvSpPr>
          <p:cNvPr id="171" name="Shape 17"/>
          <p:cNvSpPr/>
          <p:nvPr/>
        </p:nvSpPr>
        <p:spPr>
          <a:xfrm>
            <a:off x="4827960" y="4370760"/>
            <a:ext cx="1919880" cy="1005480"/>
          </a:xfrm>
          <a:prstGeom prst="roundRect">
            <a:avLst>
              <a:gd name="adj" fmla="val 7273"/>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2" name="Text 18"/>
          <p:cNvSpPr/>
          <p:nvPr/>
        </p:nvSpPr>
        <p:spPr>
          <a:xfrm>
            <a:off x="4937760" y="4443840"/>
            <a:ext cx="170028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0B2E59"/>
                </a:solidFill>
                <a:effectLst/>
                <a:uFillTx/>
                <a:latin typeface="Arial"/>
                <a:ea typeface="Arial"/>
              </a:rPr>
              <a:t>Smart Search</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0B2E59"/>
                </a:solidFill>
                <a:effectLst/>
                <a:uFillTx/>
                <a:latin typeface="Arial"/>
                <a:ea typeface="Arial"/>
              </a:rPr>
              <a:t>Tìm kiếm/lập chỉ mục</a:t>
            </a:r>
            <a:endParaRPr lang="en-US" sz="1320" b="0" u="none" strike="noStrike">
              <a:solidFill>
                <a:srgbClr val="000000"/>
              </a:solidFill>
              <a:effectLst/>
              <a:uFillTx/>
              <a:latin typeface="Arial"/>
            </a:endParaRPr>
          </a:p>
        </p:txBody>
      </p:sp>
      <p:sp>
        <p:nvSpPr>
          <p:cNvPr id="173" name="Text 19"/>
          <p:cNvSpPr/>
          <p:nvPr/>
        </p:nvSpPr>
        <p:spPr>
          <a:xfrm>
            <a:off x="1097280" y="144468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B2E59"/>
                </a:solidFill>
                <a:effectLst/>
                <a:uFillTx/>
                <a:latin typeface="Arial"/>
              </a:rPr>
              <a:t>Ý nghĩa trong đề tài</a:t>
            </a:r>
            <a:endParaRPr lang="en-US" sz="2000" b="0" u="none" strike="noStrike">
              <a:solidFill>
                <a:srgbClr val="000000"/>
              </a:solidFill>
              <a:effectLst/>
              <a:uFillTx/>
              <a:latin typeface="Arial"/>
            </a:endParaRPr>
          </a:p>
        </p:txBody>
      </p:sp>
      <p:sp>
        <p:nvSpPr>
          <p:cNvPr id="174" name="Text 20"/>
          <p:cNvSpPr/>
          <p:nvPr/>
        </p:nvSpPr>
        <p:spPr>
          <a:xfrm>
            <a:off x="1097280" y="1810440"/>
            <a:ext cx="9692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20" b="0" u="none" strike="noStrike">
                <a:solidFill>
                  <a:srgbClr val="1F2937"/>
                </a:solidFill>
                <a:effectLst/>
                <a:uFillTx/>
                <a:latin typeface="Arial"/>
              </a:rPr>
              <a:t>Thay vì xây dựng hệ quản trị từ đầu, Joomla cho phép sinh viên tập trung vào cấu trúc nội dung, giao diện và quy trình vận hành website việc làm.</a:t>
            </a:r>
            <a:endParaRPr lang="en-US" sz="1420" b="0" u="none" strike="noStrike">
              <a:solidFill>
                <a:srgbClr val="000000"/>
              </a:solidFill>
              <a:effectLst/>
              <a:uFillTx/>
              <a:latin typeface="Arial"/>
            </a:endParaRPr>
          </a:p>
        </p:txBody>
      </p:sp>
      <p:sp>
        <p:nvSpPr>
          <p:cNvPr id="175" name="Text 21"/>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176" name="PlaceHolder 1"/>
          <p:cNvSpPr>
            <a:spLocks noGrp="1"/>
          </p:cNvSpPr>
          <p:nvPr>
            <p:ph type="sldNum" idx="10"/>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5426CBDF-7D80-4BD8-ABF9-3413D8C6757F}" type="slidenum">
              <a:rPr lang="en-US" sz="800" b="0" u="none" strike="noStrike">
                <a:solidFill>
                  <a:srgbClr val="8392A5"/>
                </a:solidFill>
                <a:effectLst/>
                <a:uFillTx/>
                <a:latin typeface="Arial"/>
                <a:ea typeface="Arial"/>
              </a:rPr>
              <a:t>6</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35897"/>
    </mc:Choice>
    <mc:Fallback xmlns="">
      <p:transition spd="slow" advTm="3589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177"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8"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NỘI DUNG WEBSITE</a:t>
            </a:r>
            <a:endParaRPr lang="en-US" sz="880" b="0" u="none" strike="noStrike">
              <a:solidFill>
                <a:srgbClr val="000000"/>
              </a:solidFill>
              <a:effectLst/>
              <a:uFillTx/>
              <a:latin typeface="Arial"/>
            </a:endParaRPr>
          </a:p>
        </p:txBody>
      </p:sp>
      <p:sp>
        <p:nvSpPr>
          <p:cNvPr id="179"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Cấu trúc nội dung và menu</a:t>
            </a:r>
            <a:endParaRPr lang="en-US" sz="2800" b="0" u="none" strike="noStrike">
              <a:solidFill>
                <a:srgbClr val="000000"/>
              </a:solidFill>
              <a:effectLst/>
              <a:uFillTx/>
              <a:latin typeface="Arial"/>
            </a:endParaRPr>
          </a:p>
        </p:txBody>
      </p:sp>
      <p:sp>
        <p:nvSpPr>
          <p:cNvPr id="180"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Website được tổ chức theo nhóm rõ ràng để dễ tra cứu</a:t>
            </a:r>
            <a:endParaRPr lang="en-US" sz="1050" b="0" u="none" strike="noStrike">
              <a:solidFill>
                <a:srgbClr val="000000"/>
              </a:solidFill>
              <a:effectLst/>
              <a:uFillTx/>
              <a:latin typeface="Arial"/>
            </a:endParaRPr>
          </a:p>
        </p:txBody>
      </p:sp>
      <p:sp>
        <p:nvSpPr>
          <p:cNvPr id="181"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82" name="Shape 5"/>
          <p:cNvSpPr/>
          <p:nvPr/>
        </p:nvSpPr>
        <p:spPr>
          <a:xfrm>
            <a:off x="658440" y="1417320"/>
            <a:ext cx="1416960" cy="529920"/>
          </a:xfrm>
          <a:prstGeom prst="roundRect">
            <a:avLst>
              <a:gd name="adj" fmla="val 13793"/>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3" name="Text 6"/>
          <p:cNvSpPr/>
          <p:nvPr/>
        </p:nvSpPr>
        <p:spPr>
          <a:xfrm>
            <a:off x="768240" y="1490400"/>
            <a:ext cx="1197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80" b="1" u="none" strike="noStrike">
                <a:solidFill>
                  <a:srgbClr val="0B4F9C"/>
                </a:solidFill>
                <a:effectLst/>
                <a:uFillTx/>
                <a:latin typeface="Arial"/>
                <a:ea typeface="Arial"/>
              </a:rPr>
              <a:t>Trang chủ</a:t>
            </a:r>
            <a:endParaRPr lang="en-US" sz="1080" b="0" u="none" strike="noStrike">
              <a:solidFill>
                <a:srgbClr val="000000"/>
              </a:solidFill>
              <a:effectLst/>
              <a:uFillTx/>
              <a:latin typeface="Arial"/>
            </a:endParaRPr>
          </a:p>
        </p:txBody>
      </p:sp>
      <p:sp>
        <p:nvSpPr>
          <p:cNvPr id="184" name="Shape 7"/>
          <p:cNvSpPr/>
          <p:nvPr/>
        </p:nvSpPr>
        <p:spPr>
          <a:xfrm>
            <a:off x="2286000" y="1417320"/>
            <a:ext cx="1416960" cy="529920"/>
          </a:xfrm>
          <a:prstGeom prst="roundRect">
            <a:avLst>
              <a:gd name="adj" fmla="val 13793"/>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5" name="Text 8"/>
          <p:cNvSpPr/>
          <p:nvPr/>
        </p:nvSpPr>
        <p:spPr>
          <a:xfrm>
            <a:off x="2395800" y="1490400"/>
            <a:ext cx="1197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80" b="1" u="none" strike="noStrike">
                <a:solidFill>
                  <a:srgbClr val="0B4F9C"/>
                </a:solidFill>
                <a:effectLst/>
                <a:uFillTx/>
                <a:latin typeface="Arial"/>
                <a:ea typeface="Arial"/>
              </a:rPr>
              <a:t>Giới thiệu Trung tâm</a:t>
            </a:r>
            <a:endParaRPr lang="en-US" sz="1080" b="0" u="none" strike="noStrike">
              <a:solidFill>
                <a:srgbClr val="000000"/>
              </a:solidFill>
              <a:effectLst/>
              <a:uFillTx/>
              <a:latin typeface="Arial"/>
            </a:endParaRPr>
          </a:p>
        </p:txBody>
      </p:sp>
      <p:sp>
        <p:nvSpPr>
          <p:cNvPr id="186" name="Shape 9"/>
          <p:cNvSpPr/>
          <p:nvPr/>
        </p:nvSpPr>
        <p:spPr>
          <a:xfrm>
            <a:off x="3913560" y="1417320"/>
            <a:ext cx="1416960" cy="529920"/>
          </a:xfrm>
          <a:prstGeom prst="roundRect">
            <a:avLst>
              <a:gd name="adj" fmla="val 13793"/>
            </a:avLst>
          </a:prstGeom>
          <a:solidFill>
            <a:srgbClr val="E7F7ED"/>
          </a:solidFill>
          <a:ln w="12700">
            <a:solidFill>
              <a:srgbClr val="18A5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7" name="Text 10"/>
          <p:cNvSpPr/>
          <p:nvPr/>
        </p:nvSpPr>
        <p:spPr>
          <a:xfrm>
            <a:off x="4023360" y="1490400"/>
            <a:ext cx="1197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80" b="1" u="none" strike="noStrike">
                <a:solidFill>
                  <a:srgbClr val="18A558"/>
                </a:solidFill>
                <a:effectLst/>
                <a:uFillTx/>
                <a:latin typeface="Arial"/>
                <a:ea typeface="Arial"/>
              </a:rPr>
              <a:t>Việc làm</a:t>
            </a:r>
            <a:endParaRPr lang="en-US" sz="1080" b="0" u="none" strike="noStrike">
              <a:solidFill>
                <a:srgbClr val="000000"/>
              </a:solidFill>
              <a:effectLst/>
              <a:uFillTx/>
              <a:latin typeface="Arial"/>
            </a:endParaRPr>
          </a:p>
        </p:txBody>
      </p:sp>
      <p:sp>
        <p:nvSpPr>
          <p:cNvPr id="188" name="Shape 11"/>
          <p:cNvSpPr/>
          <p:nvPr/>
        </p:nvSpPr>
        <p:spPr>
          <a:xfrm>
            <a:off x="5541120" y="1417320"/>
            <a:ext cx="1416960" cy="529920"/>
          </a:xfrm>
          <a:prstGeom prst="roundRect">
            <a:avLst>
              <a:gd name="adj" fmla="val 13793"/>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9" name="Text 12"/>
          <p:cNvSpPr/>
          <p:nvPr/>
        </p:nvSpPr>
        <p:spPr>
          <a:xfrm>
            <a:off x="5650920" y="1490400"/>
            <a:ext cx="1197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80" b="1" u="none" strike="noStrike">
                <a:solidFill>
                  <a:srgbClr val="0B4F9C"/>
                </a:solidFill>
                <a:effectLst/>
                <a:uFillTx/>
                <a:latin typeface="Arial"/>
                <a:ea typeface="Arial"/>
              </a:rPr>
              <a:t>Tin tức &amp; sự kiện</a:t>
            </a:r>
            <a:endParaRPr lang="en-US" sz="1080" b="0" u="none" strike="noStrike">
              <a:solidFill>
                <a:srgbClr val="000000"/>
              </a:solidFill>
              <a:effectLst/>
              <a:uFillTx/>
              <a:latin typeface="Arial"/>
            </a:endParaRPr>
          </a:p>
        </p:txBody>
      </p:sp>
      <p:sp>
        <p:nvSpPr>
          <p:cNvPr id="190" name="Shape 13"/>
          <p:cNvSpPr/>
          <p:nvPr/>
        </p:nvSpPr>
        <p:spPr>
          <a:xfrm>
            <a:off x="7169040" y="1417320"/>
            <a:ext cx="1416960" cy="529920"/>
          </a:xfrm>
          <a:prstGeom prst="roundRect">
            <a:avLst>
              <a:gd name="adj" fmla="val 13793"/>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1" name="Text 14"/>
          <p:cNvSpPr/>
          <p:nvPr/>
        </p:nvSpPr>
        <p:spPr>
          <a:xfrm>
            <a:off x="7278480" y="1490400"/>
            <a:ext cx="1197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80" b="1" u="none" strike="noStrike">
                <a:solidFill>
                  <a:srgbClr val="0B4F9C"/>
                </a:solidFill>
                <a:effectLst/>
                <a:uFillTx/>
                <a:latin typeface="Arial"/>
                <a:ea typeface="Arial"/>
              </a:rPr>
              <a:t>Nhà tuyển dụng</a:t>
            </a:r>
            <a:endParaRPr lang="en-US" sz="1080" b="0" u="none" strike="noStrike">
              <a:solidFill>
                <a:srgbClr val="000000"/>
              </a:solidFill>
              <a:effectLst/>
              <a:uFillTx/>
              <a:latin typeface="Arial"/>
            </a:endParaRPr>
          </a:p>
        </p:txBody>
      </p:sp>
      <p:sp>
        <p:nvSpPr>
          <p:cNvPr id="193" name="Text 16"/>
          <p:cNvSpPr/>
          <p:nvPr/>
        </p:nvSpPr>
        <p:spPr>
          <a:xfrm>
            <a:off x="8906400" y="1490400"/>
            <a:ext cx="1197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endParaRPr lang="en-US" sz="1080" b="0" u="none" strike="noStrike" dirty="0">
              <a:solidFill>
                <a:srgbClr val="000000"/>
              </a:solidFill>
              <a:effectLst/>
              <a:uFillTx/>
              <a:latin typeface="Arial"/>
            </a:endParaRPr>
          </a:p>
        </p:txBody>
      </p:sp>
      <p:sp>
        <p:nvSpPr>
          <p:cNvPr id="194" name="Shape 17"/>
          <p:cNvSpPr/>
          <p:nvPr/>
        </p:nvSpPr>
        <p:spPr>
          <a:xfrm>
            <a:off x="8796960" y="1417320"/>
            <a:ext cx="1416960" cy="529920"/>
          </a:xfrm>
          <a:prstGeom prst="roundRect">
            <a:avLst>
              <a:gd name="adj" fmla="val 13793"/>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195" name="Text 18"/>
          <p:cNvSpPr/>
          <p:nvPr/>
        </p:nvSpPr>
        <p:spPr>
          <a:xfrm>
            <a:off x="8865360" y="1526940"/>
            <a:ext cx="1197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80" b="1" u="none" strike="noStrike" dirty="0">
                <a:solidFill>
                  <a:srgbClr val="0B4F9C"/>
                </a:solidFill>
                <a:effectLst/>
                <a:uFillTx/>
                <a:latin typeface="Arial"/>
                <a:ea typeface="Arial"/>
              </a:rPr>
              <a:t>Liên </a:t>
            </a:r>
            <a:r>
              <a:rPr lang="en-US" sz="1080" b="1" u="none" strike="noStrike" dirty="0" err="1">
                <a:solidFill>
                  <a:srgbClr val="0B4F9C"/>
                </a:solidFill>
                <a:effectLst/>
                <a:uFillTx/>
                <a:latin typeface="Arial"/>
                <a:ea typeface="Arial"/>
              </a:rPr>
              <a:t>hệ</a:t>
            </a:r>
            <a:endParaRPr lang="en-US" sz="1080" b="0" u="none" strike="noStrike" dirty="0">
              <a:solidFill>
                <a:srgbClr val="000000"/>
              </a:solidFill>
              <a:effectLst/>
              <a:uFillTx/>
              <a:latin typeface="Arial"/>
            </a:endParaRPr>
          </a:p>
        </p:txBody>
      </p:sp>
      <p:sp>
        <p:nvSpPr>
          <p:cNvPr id="196" name="Text 19"/>
          <p:cNvSpPr/>
          <p:nvPr/>
        </p:nvSpPr>
        <p:spPr>
          <a:xfrm>
            <a:off x="822960" y="248724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B2E59"/>
                </a:solidFill>
                <a:effectLst/>
                <a:uFillTx/>
                <a:latin typeface="Arial"/>
              </a:rPr>
              <a:t>5 nhóm ngành nghề chính</a:t>
            </a:r>
            <a:endParaRPr lang="en-US" sz="2000" b="0" u="none" strike="noStrike">
              <a:solidFill>
                <a:srgbClr val="000000"/>
              </a:solidFill>
              <a:effectLst/>
              <a:uFillTx/>
              <a:latin typeface="Arial"/>
            </a:endParaRPr>
          </a:p>
        </p:txBody>
      </p:sp>
      <p:sp>
        <p:nvSpPr>
          <p:cNvPr id="197" name="Shape 20"/>
          <p:cNvSpPr/>
          <p:nvPr/>
        </p:nvSpPr>
        <p:spPr>
          <a:xfrm>
            <a:off x="960120" y="3108960"/>
            <a:ext cx="502560" cy="502560"/>
          </a:xfrm>
          <a:prstGeom prst="ellipse">
            <a:avLst/>
          </a:prstGeom>
          <a:solidFill>
            <a:srgbClr val="0B4F9C"/>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8" name="Text 21"/>
          <p:cNvSpPr/>
          <p:nvPr/>
        </p:nvSpPr>
        <p:spPr>
          <a:xfrm>
            <a:off x="960120" y="32644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1</a:t>
            </a:r>
            <a:endParaRPr lang="en-US" sz="1000" b="0" u="none" strike="noStrike">
              <a:solidFill>
                <a:srgbClr val="000000"/>
              </a:solidFill>
              <a:effectLst/>
              <a:uFillTx/>
              <a:latin typeface="Arial"/>
            </a:endParaRPr>
          </a:p>
        </p:txBody>
      </p:sp>
      <p:sp>
        <p:nvSpPr>
          <p:cNvPr id="199" name="Shape 22"/>
          <p:cNvSpPr/>
          <p:nvPr/>
        </p:nvSpPr>
        <p:spPr>
          <a:xfrm>
            <a:off x="658440" y="3767400"/>
            <a:ext cx="1645560" cy="822600"/>
          </a:xfrm>
          <a:prstGeom prst="roundRect">
            <a:avLst>
              <a:gd name="adj" fmla="val 8889"/>
            </a:avLst>
          </a:prstGeom>
          <a:solidFill>
            <a:srgbClr val="EAF4FF"/>
          </a:solidFill>
          <a:ln w="12700">
            <a:solidFill>
              <a:srgbClr val="D8E2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0" name="Text 23"/>
          <p:cNvSpPr/>
          <p:nvPr/>
        </p:nvSpPr>
        <p:spPr>
          <a:xfrm>
            <a:off x="768240" y="3840480"/>
            <a:ext cx="142596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20" b="1" u="none" strike="noStrike">
                <a:solidFill>
                  <a:srgbClr val="1F2937"/>
                </a:solidFill>
                <a:effectLst/>
                <a:uFillTx/>
                <a:latin typeface="Arial"/>
                <a:ea typeface="Arial"/>
              </a:rPr>
              <a:t>Kế toán</a:t>
            </a:r>
            <a:endParaRPr lang="en-US" sz="1220" b="0" u="none" strike="noStrike">
              <a:solidFill>
                <a:srgbClr val="000000"/>
              </a:solidFill>
              <a:effectLst/>
              <a:uFillTx/>
              <a:latin typeface="Arial"/>
            </a:endParaRPr>
          </a:p>
          <a:p>
            <a:pPr algn="ctr" defTabSz="914400">
              <a:lnSpc>
                <a:spcPct val="100000"/>
              </a:lnSpc>
              <a:tabLst>
                <a:tab pos="0" algn="l"/>
              </a:tabLst>
            </a:pPr>
            <a:r>
              <a:rPr lang="en-US" sz="1220" b="1" u="none" strike="noStrike">
                <a:solidFill>
                  <a:srgbClr val="1F2937"/>
                </a:solidFill>
                <a:effectLst/>
                <a:uFillTx/>
                <a:latin typeface="Arial"/>
                <a:ea typeface="Arial"/>
              </a:rPr>
              <a:t>Kiểm toán</a:t>
            </a:r>
            <a:endParaRPr lang="en-US" sz="1220" b="0" u="none" strike="noStrike">
              <a:solidFill>
                <a:srgbClr val="000000"/>
              </a:solidFill>
              <a:effectLst/>
              <a:uFillTx/>
              <a:latin typeface="Arial"/>
            </a:endParaRPr>
          </a:p>
        </p:txBody>
      </p:sp>
      <p:sp>
        <p:nvSpPr>
          <p:cNvPr id="201" name="Shape 24"/>
          <p:cNvSpPr/>
          <p:nvPr/>
        </p:nvSpPr>
        <p:spPr>
          <a:xfrm>
            <a:off x="3017520" y="3108960"/>
            <a:ext cx="502560" cy="502560"/>
          </a:xfrm>
          <a:prstGeom prst="ellipse">
            <a:avLst/>
          </a:prstGeom>
          <a:solidFill>
            <a:srgbClr val="18A558"/>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2" name="Text 25"/>
          <p:cNvSpPr/>
          <p:nvPr/>
        </p:nvSpPr>
        <p:spPr>
          <a:xfrm>
            <a:off x="3017520" y="32644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2</a:t>
            </a:r>
            <a:endParaRPr lang="en-US" sz="1000" b="0" u="none" strike="noStrike">
              <a:solidFill>
                <a:srgbClr val="000000"/>
              </a:solidFill>
              <a:effectLst/>
              <a:uFillTx/>
              <a:latin typeface="Arial"/>
            </a:endParaRPr>
          </a:p>
        </p:txBody>
      </p:sp>
      <p:sp>
        <p:nvSpPr>
          <p:cNvPr id="203" name="Shape 26"/>
          <p:cNvSpPr/>
          <p:nvPr/>
        </p:nvSpPr>
        <p:spPr>
          <a:xfrm>
            <a:off x="2715840" y="3767400"/>
            <a:ext cx="1645560" cy="822600"/>
          </a:xfrm>
          <a:prstGeom prst="roundRect">
            <a:avLst>
              <a:gd name="adj" fmla="val 8889"/>
            </a:avLst>
          </a:prstGeom>
          <a:solidFill>
            <a:srgbClr val="F1FBF5"/>
          </a:solidFill>
          <a:ln w="12700">
            <a:solidFill>
              <a:srgbClr val="D8E2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4" name="Text 27"/>
          <p:cNvSpPr/>
          <p:nvPr/>
        </p:nvSpPr>
        <p:spPr>
          <a:xfrm>
            <a:off x="2825640" y="3840480"/>
            <a:ext cx="142596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20" b="1" u="none" strike="noStrike">
                <a:solidFill>
                  <a:srgbClr val="1F2937"/>
                </a:solidFill>
                <a:effectLst/>
                <a:uFillTx/>
                <a:latin typeface="Arial"/>
                <a:ea typeface="Arial"/>
              </a:rPr>
              <a:t>Kinh doanh</a:t>
            </a:r>
            <a:endParaRPr lang="en-US" sz="1220" b="0" u="none" strike="noStrike">
              <a:solidFill>
                <a:srgbClr val="000000"/>
              </a:solidFill>
              <a:effectLst/>
              <a:uFillTx/>
              <a:latin typeface="Arial"/>
            </a:endParaRPr>
          </a:p>
          <a:p>
            <a:pPr algn="ctr" defTabSz="914400">
              <a:lnSpc>
                <a:spcPct val="100000"/>
              </a:lnSpc>
              <a:tabLst>
                <a:tab pos="0" algn="l"/>
              </a:tabLst>
            </a:pPr>
            <a:r>
              <a:rPr lang="en-US" sz="1220" b="1" u="none" strike="noStrike">
                <a:solidFill>
                  <a:srgbClr val="1F2937"/>
                </a:solidFill>
                <a:effectLst/>
                <a:uFillTx/>
                <a:latin typeface="Arial"/>
                <a:ea typeface="Arial"/>
              </a:rPr>
              <a:t>Bán hàng</a:t>
            </a:r>
            <a:endParaRPr lang="en-US" sz="1220" b="0" u="none" strike="noStrike">
              <a:solidFill>
                <a:srgbClr val="000000"/>
              </a:solidFill>
              <a:effectLst/>
              <a:uFillTx/>
              <a:latin typeface="Arial"/>
            </a:endParaRPr>
          </a:p>
        </p:txBody>
      </p:sp>
      <p:sp>
        <p:nvSpPr>
          <p:cNvPr id="205" name="Shape 28"/>
          <p:cNvSpPr/>
          <p:nvPr/>
        </p:nvSpPr>
        <p:spPr>
          <a:xfrm>
            <a:off x="5074920" y="3108960"/>
            <a:ext cx="502560" cy="502560"/>
          </a:xfrm>
          <a:prstGeom prst="ellipse">
            <a:avLst/>
          </a:prstGeom>
          <a:solidFill>
            <a:srgbClr val="6D28D9"/>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6" name="Text 29"/>
          <p:cNvSpPr/>
          <p:nvPr/>
        </p:nvSpPr>
        <p:spPr>
          <a:xfrm>
            <a:off x="5074920" y="32644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3</a:t>
            </a:r>
            <a:endParaRPr lang="en-US" sz="1000" b="0" u="none" strike="noStrike">
              <a:solidFill>
                <a:srgbClr val="000000"/>
              </a:solidFill>
              <a:effectLst/>
              <a:uFillTx/>
              <a:latin typeface="Arial"/>
            </a:endParaRPr>
          </a:p>
        </p:txBody>
      </p:sp>
      <p:sp>
        <p:nvSpPr>
          <p:cNvPr id="207" name="Shape 30"/>
          <p:cNvSpPr/>
          <p:nvPr/>
        </p:nvSpPr>
        <p:spPr>
          <a:xfrm>
            <a:off x="4773240" y="3767400"/>
            <a:ext cx="1645560" cy="822600"/>
          </a:xfrm>
          <a:prstGeom prst="roundRect">
            <a:avLst>
              <a:gd name="adj" fmla="val 8889"/>
            </a:avLst>
          </a:prstGeom>
          <a:solidFill>
            <a:srgbClr val="EDE9FE"/>
          </a:solidFill>
          <a:ln w="12700">
            <a:solidFill>
              <a:srgbClr val="D8E2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8" name="Text 31"/>
          <p:cNvSpPr/>
          <p:nvPr/>
        </p:nvSpPr>
        <p:spPr>
          <a:xfrm>
            <a:off x="4883040" y="3840480"/>
            <a:ext cx="142596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20" b="1" u="none" strike="noStrike">
                <a:solidFill>
                  <a:srgbClr val="1F2937"/>
                </a:solidFill>
                <a:effectLst/>
                <a:uFillTx/>
                <a:latin typeface="Arial"/>
                <a:ea typeface="Arial"/>
              </a:rPr>
              <a:t>Công nghệ</a:t>
            </a:r>
            <a:endParaRPr lang="en-US" sz="1220" b="0" u="none" strike="noStrike">
              <a:solidFill>
                <a:srgbClr val="000000"/>
              </a:solidFill>
              <a:effectLst/>
              <a:uFillTx/>
              <a:latin typeface="Arial"/>
            </a:endParaRPr>
          </a:p>
          <a:p>
            <a:pPr algn="ctr" defTabSz="914400">
              <a:lnSpc>
                <a:spcPct val="100000"/>
              </a:lnSpc>
              <a:tabLst>
                <a:tab pos="0" algn="l"/>
              </a:tabLst>
            </a:pPr>
            <a:r>
              <a:rPr lang="en-US" sz="1220" b="1" u="none" strike="noStrike">
                <a:solidFill>
                  <a:srgbClr val="1F2937"/>
                </a:solidFill>
                <a:effectLst/>
                <a:uFillTx/>
                <a:latin typeface="Arial"/>
                <a:ea typeface="Arial"/>
              </a:rPr>
              <a:t>thông tin</a:t>
            </a:r>
            <a:endParaRPr lang="en-US" sz="1220" b="0" u="none" strike="noStrike">
              <a:solidFill>
                <a:srgbClr val="000000"/>
              </a:solidFill>
              <a:effectLst/>
              <a:uFillTx/>
              <a:latin typeface="Arial"/>
            </a:endParaRPr>
          </a:p>
        </p:txBody>
      </p:sp>
      <p:sp>
        <p:nvSpPr>
          <p:cNvPr id="209" name="Shape 32"/>
          <p:cNvSpPr/>
          <p:nvPr/>
        </p:nvSpPr>
        <p:spPr>
          <a:xfrm>
            <a:off x="7132320" y="3108960"/>
            <a:ext cx="502560" cy="502560"/>
          </a:xfrm>
          <a:prstGeom prst="ellipse">
            <a:avLst/>
          </a:prstGeom>
          <a:solidFill>
            <a:srgbClr val="F58220"/>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0" name="Text 33"/>
          <p:cNvSpPr/>
          <p:nvPr/>
        </p:nvSpPr>
        <p:spPr>
          <a:xfrm>
            <a:off x="7132320" y="32644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4</a:t>
            </a:r>
            <a:endParaRPr lang="en-US" sz="1000" b="0" u="none" strike="noStrike">
              <a:solidFill>
                <a:srgbClr val="000000"/>
              </a:solidFill>
              <a:effectLst/>
              <a:uFillTx/>
              <a:latin typeface="Arial"/>
            </a:endParaRPr>
          </a:p>
        </p:txBody>
      </p:sp>
      <p:sp>
        <p:nvSpPr>
          <p:cNvPr id="211" name="Shape 34"/>
          <p:cNvSpPr/>
          <p:nvPr/>
        </p:nvSpPr>
        <p:spPr>
          <a:xfrm>
            <a:off x="6830640" y="3767400"/>
            <a:ext cx="1645560" cy="822600"/>
          </a:xfrm>
          <a:prstGeom prst="roundRect">
            <a:avLst>
              <a:gd name="adj" fmla="val 8889"/>
            </a:avLst>
          </a:prstGeom>
          <a:solidFill>
            <a:srgbClr val="FFF4E6"/>
          </a:solidFill>
          <a:ln w="12700">
            <a:solidFill>
              <a:srgbClr val="D8E2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2" name="Text 35"/>
          <p:cNvSpPr/>
          <p:nvPr/>
        </p:nvSpPr>
        <p:spPr>
          <a:xfrm>
            <a:off x="6940440" y="3840480"/>
            <a:ext cx="142596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20" b="1" u="none" strike="noStrike">
                <a:solidFill>
                  <a:srgbClr val="1F2937"/>
                </a:solidFill>
                <a:effectLst/>
                <a:uFillTx/>
                <a:latin typeface="Arial"/>
                <a:ea typeface="Arial"/>
              </a:rPr>
              <a:t>Hành chính</a:t>
            </a:r>
            <a:endParaRPr lang="en-US" sz="1220" b="0" u="none" strike="noStrike">
              <a:solidFill>
                <a:srgbClr val="000000"/>
              </a:solidFill>
              <a:effectLst/>
              <a:uFillTx/>
              <a:latin typeface="Arial"/>
            </a:endParaRPr>
          </a:p>
          <a:p>
            <a:pPr algn="ctr" defTabSz="914400">
              <a:lnSpc>
                <a:spcPct val="100000"/>
              </a:lnSpc>
              <a:tabLst>
                <a:tab pos="0" algn="l"/>
              </a:tabLst>
            </a:pPr>
            <a:r>
              <a:rPr lang="en-US" sz="1220" b="1" u="none" strike="noStrike">
                <a:solidFill>
                  <a:srgbClr val="1F2937"/>
                </a:solidFill>
                <a:effectLst/>
                <a:uFillTx/>
                <a:latin typeface="Arial"/>
                <a:ea typeface="Arial"/>
              </a:rPr>
              <a:t>Nhân sự</a:t>
            </a:r>
            <a:endParaRPr lang="en-US" sz="1220" b="0" u="none" strike="noStrike">
              <a:solidFill>
                <a:srgbClr val="000000"/>
              </a:solidFill>
              <a:effectLst/>
              <a:uFillTx/>
              <a:latin typeface="Arial"/>
            </a:endParaRPr>
          </a:p>
        </p:txBody>
      </p:sp>
      <p:sp>
        <p:nvSpPr>
          <p:cNvPr id="213" name="Shape 36"/>
          <p:cNvSpPr/>
          <p:nvPr/>
        </p:nvSpPr>
        <p:spPr>
          <a:xfrm>
            <a:off x="9189720" y="3108960"/>
            <a:ext cx="502560" cy="502560"/>
          </a:xfrm>
          <a:prstGeom prst="ellipse">
            <a:avLst/>
          </a:prstGeom>
          <a:solidFill>
            <a:srgbClr val="DC2626"/>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4" name="Text 37"/>
          <p:cNvSpPr/>
          <p:nvPr/>
        </p:nvSpPr>
        <p:spPr>
          <a:xfrm>
            <a:off x="9189720" y="32644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5</a:t>
            </a:r>
            <a:endParaRPr lang="en-US" sz="1000" b="0" u="none" strike="noStrike">
              <a:solidFill>
                <a:srgbClr val="000000"/>
              </a:solidFill>
              <a:effectLst/>
              <a:uFillTx/>
              <a:latin typeface="Arial"/>
            </a:endParaRPr>
          </a:p>
        </p:txBody>
      </p:sp>
      <p:sp>
        <p:nvSpPr>
          <p:cNvPr id="215" name="Shape 38"/>
          <p:cNvSpPr/>
          <p:nvPr/>
        </p:nvSpPr>
        <p:spPr>
          <a:xfrm>
            <a:off x="8888040" y="3767400"/>
            <a:ext cx="1645560" cy="822600"/>
          </a:xfrm>
          <a:prstGeom prst="roundRect">
            <a:avLst>
              <a:gd name="adj" fmla="val 8889"/>
            </a:avLst>
          </a:prstGeom>
          <a:solidFill>
            <a:srgbClr val="FEE2E2"/>
          </a:solidFill>
          <a:ln w="12700">
            <a:solidFill>
              <a:srgbClr val="D8E2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6" name="Text 39"/>
          <p:cNvSpPr/>
          <p:nvPr/>
        </p:nvSpPr>
        <p:spPr>
          <a:xfrm>
            <a:off x="8997840" y="3840480"/>
            <a:ext cx="142596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20" b="1" u="none" strike="noStrike">
                <a:solidFill>
                  <a:srgbClr val="1F2937"/>
                </a:solidFill>
                <a:effectLst/>
                <a:uFillTx/>
                <a:latin typeface="Arial"/>
                <a:ea typeface="Arial"/>
              </a:rPr>
              <a:t>Marketing</a:t>
            </a:r>
            <a:endParaRPr lang="en-US" sz="1220" b="0" u="none" strike="noStrike">
              <a:solidFill>
                <a:srgbClr val="000000"/>
              </a:solidFill>
              <a:effectLst/>
              <a:uFillTx/>
              <a:latin typeface="Arial"/>
            </a:endParaRPr>
          </a:p>
          <a:p>
            <a:pPr algn="ctr" defTabSz="914400">
              <a:lnSpc>
                <a:spcPct val="100000"/>
              </a:lnSpc>
              <a:tabLst>
                <a:tab pos="0" algn="l"/>
              </a:tabLst>
            </a:pPr>
            <a:r>
              <a:rPr lang="en-US" sz="1220" b="1" u="none" strike="noStrike">
                <a:solidFill>
                  <a:srgbClr val="1F2937"/>
                </a:solidFill>
                <a:effectLst/>
                <a:uFillTx/>
                <a:latin typeface="Arial"/>
                <a:ea typeface="Arial"/>
              </a:rPr>
              <a:t>Truyền thông</a:t>
            </a:r>
            <a:endParaRPr lang="en-US" sz="1220" b="0" u="none" strike="noStrike">
              <a:solidFill>
                <a:srgbClr val="000000"/>
              </a:solidFill>
              <a:effectLst/>
              <a:uFillTx/>
              <a:latin typeface="Arial"/>
            </a:endParaRPr>
          </a:p>
        </p:txBody>
      </p:sp>
      <p:sp>
        <p:nvSpPr>
          <p:cNvPr id="217" name="Text 40"/>
          <p:cNvSpPr/>
          <p:nvPr/>
        </p:nvSpPr>
        <p:spPr>
          <a:xfrm>
            <a:off x="822960" y="5139000"/>
            <a:ext cx="2834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50" b="1" u="none" strike="noStrike">
                <a:solidFill>
                  <a:srgbClr val="0B2E59"/>
                </a:solidFill>
                <a:effectLst/>
                <a:uFillTx/>
                <a:latin typeface="Arial"/>
              </a:rPr>
              <a:t>Nội dung minh họa</a:t>
            </a:r>
            <a:endParaRPr lang="en-US" sz="1650" b="0" u="none" strike="noStrike">
              <a:solidFill>
                <a:srgbClr val="000000"/>
              </a:solidFill>
              <a:effectLst/>
              <a:uFillTx/>
              <a:latin typeface="Arial"/>
            </a:endParaRPr>
          </a:p>
        </p:txBody>
      </p:sp>
      <p:sp>
        <p:nvSpPr>
          <p:cNvPr id="218" name="Text 41"/>
          <p:cNvSpPr/>
          <p:nvPr/>
        </p:nvSpPr>
        <p:spPr>
          <a:xfrm>
            <a:off x="822960" y="5504760"/>
            <a:ext cx="99666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280" b="0" u="none" strike="noStrike">
                <a:solidFill>
                  <a:srgbClr val="1F2937"/>
                </a:solidFill>
                <a:effectLst/>
                <a:uFillTx/>
                <a:latin typeface="Arial"/>
              </a:rPr>
              <a:t>Tin việc làm: nhân viên văn phòng, kinh doanh, bán hàng, kỹ thuật, phổ thông, bán thời gian. Nhà tuyển dụng: thông tin doanh nghiệp, nhu cầu tuyển, địa điểm, mức lương minh họa.</a:t>
            </a:r>
            <a:endParaRPr lang="en-US" sz="1280" b="0" u="none" strike="noStrike">
              <a:solidFill>
                <a:srgbClr val="000000"/>
              </a:solidFill>
              <a:effectLst/>
              <a:uFillTx/>
              <a:latin typeface="Arial"/>
            </a:endParaRPr>
          </a:p>
        </p:txBody>
      </p:sp>
      <p:sp>
        <p:nvSpPr>
          <p:cNvPr id="219" name="Text 42"/>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220" name="PlaceHolder 1"/>
          <p:cNvSpPr>
            <a:spLocks noGrp="1"/>
          </p:cNvSpPr>
          <p:nvPr>
            <p:ph type="sldNum" idx="11"/>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3152452E-9EEB-42B0-AA9E-5E95C5A0A710}" type="slidenum">
              <a:rPr lang="en-US" sz="800" b="0" u="none" strike="noStrike">
                <a:solidFill>
                  <a:srgbClr val="8392A5"/>
                </a:solidFill>
                <a:effectLst/>
                <a:uFillTx/>
                <a:latin typeface="Arial"/>
                <a:ea typeface="Arial"/>
              </a:rPr>
              <a:t>7</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32873"/>
    </mc:Choice>
    <mc:Fallback xmlns="">
      <p:transition spd="slow" advTm="3287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221"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2"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CHỨC NĂNG</a:t>
            </a:r>
            <a:endParaRPr lang="en-US" sz="880" b="0" u="none" strike="noStrike">
              <a:solidFill>
                <a:srgbClr val="000000"/>
              </a:solidFill>
              <a:effectLst/>
              <a:uFillTx/>
              <a:latin typeface="Arial"/>
            </a:endParaRPr>
          </a:p>
        </p:txBody>
      </p:sp>
      <p:sp>
        <p:nvSpPr>
          <p:cNvPr id="223"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Chức năng dành cho khách truy cập</a:t>
            </a:r>
            <a:endParaRPr lang="en-US" sz="2800" b="0" u="none" strike="noStrike">
              <a:solidFill>
                <a:srgbClr val="000000"/>
              </a:solidFill>
              <a:effectLst/>
              <a:uFillTx/>
              <a:latin typeface="Arial"/>
            </a:endParaRPr>
          </a:p>
        </p:txBody>
      </p:sp>
      <p:sp>
        <p:nvSpPr>
          <p:cNvPr id="224"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Người dùng không cần đăng nhập vẫn có thể xem và tra cứu thông tin</a:t>
            </a:r>
            <a:endParaRPr lang="en-US" sz="1050" b="0" u="none" strike="noStrike">
              <a:solidFill>
                <a:srgbClr val="000000"/>
              </a:solidFill>
              <a:effectLst/>
              <a:uFillTx/>
              <a:latin typeface="Arial"/>
            </a:endParaRPr>
          </a:p>
        </p:txBody>
      </p:sp>
      <p:sp>
        <p:nvSpPr>
          <p:cNvPr id="225"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6" name="Shape 5"/>
          <p:cNvSpPr/>
          <p:nvPr/>
        </p:nvSpPr>
        <p:spPr>
          <a:xfrm>
            <a:off x="4023360" y="1828800"/>
            <a:ext cx="4023000" cy="2925720"/>
          </a:xfrm>
          <a:prstGeom prst="roundRect">
            <a:avLst>
              <a:gd name="adj" fmla="val 2500"/>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7" name="Shape 6"/>
          <p:cNvSpPr/>
          <p:nvPr/>
        </p:nvSpPr>
        <p:spPr>
          <a:xfrm>
            <a:off x="4023360" y="1828800"/>
            <a:ext cx="4023000" cy="3470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8" name="Text 7"/>
          <p:cNvSpPr/>
          <p:nvPr/>
        </p:nvSpPr>
        <p:spPr>
          <a:xfrm>
            <a:off x="4251960" y="3035880"/>
            <a:ext cx="35658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E59"/>
                </a:solidFill>
                <a:effectLst/>
                <a:uFillTx/>
                <a:latin typeface="Arial"/>
              </a:rPr>
              <a:t>Website Trung tâm việc làm</a:t>
            </a:r>
            <a:endParaRPr lang="en-US" sz="1900" b="0" u="none" strike="noStrike">
              <a:solidFill>
                <a:srgbClr val="000000"/>
              </a:solidFill>
              <a:effectLst/>
              <a:uFillTx/>
              <a:latin typeface="Arial"/>
            </a:endParaRPr>
          </a:p>
        </p:txBody>
      </p:sp>
      <p:sp>
        <p:nvSpPr>
          <p:cNvPr id="229" name="Text 8"/>
          <p:cNvSpPr/>
          <p:nvPr/>
        </p:nvSpPr>
        <p:spPr>
          <a:xfrm>
            <a:off x="4251960" y="3438000"/>
            <a:ext cx="3565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64748B"/>
                </a:solidFill>
                <a:effectLst/>
                <a:uFillTx/>
                <a:latin typeface="Arial"/>
              </a:rPr>
              <a:t>Xem · Tìm kiếm · Lọc · Tra cứu</a:t>
            </a:r>
            <a:endParaRPr lang="en-US" sz="1250" b="0" u="none" strike="noStrike">
              <a:solidFill>
                <a:srgbClr val="000000"/>
              </a:solidFill>
              <a:effectLst/>
              <a:uFillTx/>
              <a:latin typeface="Arial"/>
            </a:endParaRPr>
          </a:p>
        </p:txBody>
      </p:sp>
      <p:sp>
        <p:nvSpPr>
          <p:cNvPr id="230" name="Shape 9"/>
          <p:cNvSpPr/>
          <p:nvPr/>
        </p:nvSpPr>
        <p:spPr>
          <a:xfrm>
            <a:off x="2926080" y="1645920"/>
            <a:ext cx="960120" cy="360"/>
          </a:xfrm>
          <a:prstGeom prst="line">
            <a:avLst/>
          </a:prstGeom>
          <a:ln w="25400">
            <a:solidFill>
              <a:srgbClr val="18A55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1" name="Shape 10"/>
          <p:cNvSpPr/>
          <p:nvPr/>
        </p:nvSpPr>
        <p:spPr>
          <a:xfrm>
            <a:off x="2926080" y="2560320"/>
            <a:ext cx="96012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2" name="Shape 11"/>
          <p:cNvSpPr/>
          <p:nvPr/>
        </p:nvSpPr>
        <p:spPr>
          <a:xfrm>
            <a:off x="2926080" y="3474720"/>
            <a:ext cx="960120" cy="360"/>
          </a:xfrm>
          <a:prstGeom prst="line">
            <a:avLst/>
          </a:prstGeom>
          <a:ln w="25400">
            <a:solidFill>
              <a:srgbClr val="18A55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3" name="Shape 12"/>
          <p:cNvSpPr/>
          <p:nvPr/>
        </p:nvSpPr>
        <p:spPr>
          <a:xfrm>
            <a:off x="2926080" y="4389120"/>
            <a:ext cx="96012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4" name="Shape 13"/>
          <p:cNvSpPr/>
          <p:nvPr/>
        </p:nvSpPr>
        <p:spPr>
          <a:xfrm flipH="1">
            <a:off x="7434000" y="1645920"/>
            <a:ext cx="658440" cy="360"/>
          </a:xfrm>
          <a:prstGeom prst="line">
            <a:avLst/>
          </a:prstGeom>
          <a:ln w="25400">
            <a:solidFill>
              <a:srgbClr val="18A55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5" name="Shape 14"/>
          <p:cNvSpPr/>
          <p:nvPr/>
        </p:nvSpPr>
        <p:spPr>
          <a:xfrm flipH="1">
            <a:off x="7434000" y="2560320"/>
            <a:ext cx="6584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6" name="Shape 15"/>
          <p:cNvSpPr/>
          <p:nvPr/>
        </p:nvSpPr>
        <p:spPr>
          <a:xfrm flipH="1">
            <a:off x="7434000" y="3474720"/>
            <a:ext cx="658440" cy="360"/>
          </a:xfrm>
          <a:prstGeom prst="line">
            <a:avLst/>
          </a:prstGeom>
          <a:ln w="25400">
            <a:solidFill>
              <a:srgbClr val="18A55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7" name="Shape 16"/>
          <p:cNvSpPr/>
          <p:nvPr/>
        </p:nvSpPr>
        <p:spPr>
          <a:xfrm flipH="1">
            <a:off x="7434000" y="4389120"/>
            <a:ext cx="6584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8" name="Shape 17"/>
          <p:cNvSpPr/>
          <p:nvPr/>
        </p:nvSpPr>
        <p:spPr>
          <a:xfrm>
            <a:off x="841320" y="1417320"/>
            <a:ext cx="2239920" cy="502560"/>
          </a:xfrm>
          <a:prstGeom prst="roundRect">
            <a:avLst>
              <a:gd name="adj" fmla="val 14545"/>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9" name="Text 18"/>
          <p:cNvSpPr/>
          <p:nvPr/>
        </p:nvSpPr>
        <p:spPr>
          <a:xfrm>
            <a:off x="951120" y="1490400"/>
            <a:ext cx="2020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60" b="1" u="none" strike="noStrike">
                <a:solidFill>
                  <a:srgbClr val="1F2937"/>
                </a:solidFill>
                <a:effectLst/>
                <a:uFillTx/>
                <a:latin typeface="Arial"/>
                <a:ea typeface="Arial"/>
              </a:rPr>
              <a:t>Trang chủ</a:t>
            </a:r>
            <a:endParaRPr lang="en-US" sz="1260" b="0" u="none" strike="noStrike">
              <a:solidFill>
                <a:srgbClr val="000000"/>
              </a:solidFill>
              <a:effectLst/>
              <a:uFillTx/>
              <a:latin typeface="Arial"/>
            </a:endParaRPr>
          </a:p>
        </p:txBody>
      </p:sp>
      <p:sp>
        <p:nvSpPr>
          <p:cNvPr id="240" name="Shape 19"/>
          <p:cNvSpPr/>
          <p:nvPr/>
        </p:nvSpPr>
        <p:spPr>
          <a:xfrm>
            <a:off x="841320" y="2331720"/>
            <a:ext cx="2239920" cy="502560"/>
          </a:xfrm>
          <a:prstGeom prst="roundRect">
            <a:avLst>
              <a:gd name="adj" fmla="val 14545"/>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1" name="Text 20"/>
          <p:cNvSpPr/>
          <p:nvPr/>
        </p:nvSpPr>
        <p:spPr>
          <a:xfrm>
            <a:off x="951120" y="2404800"/>
            <a:ext cx="2020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60" b="1" u="none" strike="noStrike">
                <a:solidFill>
                  <a:srgbClr val="1F2937"/>
                </a:solidFill>
                <a:effectLst/>
                <a:uFillTx/>
                <a:latin typeface="Arial"/>
                <a:ea typeface="Arial"/>
              </a:rPr>
              <a:t>Giới thiệu</a:t>
            </a:r>
            <a:endParaRPr lang="en-US" sz="1260" b="0" u="none" strike="noStrike">
              <a:solidFill>
                <a:srgbClr val="000000"/>
              </a:solidFill>
              <a:effectLst/>
              <a:uFillTx/>
              <a:latin typeface="Arial"/>
            </a:endParaRPr>
          </a:p>
        </p:txBody>
      </p:sp>
      <p:sp>
        <p:nvSpPr>
          <p:cNvPr id="242" name="Shape 21"/>
          <p:cNvSpPr/>
          <p:nvPr/>
        </p:nvSpPr>
        <p:spPr>
          <a:xfrm>
            <a:off x="841320" y="3246120"/>
            <a:ext cx="2239920" cy="502560"/>
          </a:xfrm>
          <a:prstGeom prst="roundRect">
            <a:avLst>
              <a:gd name="adj" fmla="val 14545"/>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3" name="Text 22"/>
          <p:cNvSpPr/>
          <p:nvPr/>
        </p:nvSpPr>
        <p:spPr>
          <a:xfrm>
            <a:off x="951120" y="3319200"/>
            <a:ext cx="2020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60" b="1" u="none" strike="noStrike">
                <a:solidFill>
                  <a:srgbClr val="1F2937"/>
                </a:solidFill>
                <a:effectLst/>
                <a:uFillTx/>
                <a:latin typeface="Arial"/>
                <a:ea typeface="Arial"/>
              </a:rPr>
              <a:t>Danh sách việc làm</a:t>
            </a:r>
            <a:endParaRPr lang="en-US" sz="1260" b="0" u="none" strike="noStrike">
              <a:solidFill>
                <a:srgbClr val="000000"/>
              </a:solidFill>
              <a:effectLst/>
              <a:uFillTx/>
              <a:latin typeface="Arial"/>
            </a:endParaRPr>
          </a:p>
        </p:txBody>
      </p:sp>
      <p:sp>
        <p:nvSpPr>
          <p:cNvPr id="244" name="Shape 23"/>
          <p:cNvSpPr/>
          <p:nvPr/>
        </p:nvSpPr>
        <p:spPr>
          <a:xfrm>
            <a:off x="841320" y="4160520"/>
            <a:ext cx="2239920" cy="502560"/>
          </a:xfrm>
          <a:prstGeom prst="roundRect">
            <a:avLst>
              <a:gd name="adj" fmla="val 14545"/>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5" name="Text 24"/>
          <p:cNvSpPr/>
          <p:nvPr/>
        </p:nvSpPr>
        <p:spPr>
          <a:xfrm>
            <a:off x="951120" y="4233600"/>
            <a:ext cx="2020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60" b="1" u="none" strike="noStrike">
                <a:solidFill>
                  <a:srgbClr val="1F2937"/>
                </a:solidFill>
                <a:effectLst/>
                <a:uFillTx/>
                <a:latin typeface="Arial"/>
                <a:ea typeface="Arial"/>
              </a:rPr>
              <a:t>Chi tiết việc làm</a:t>
            </a:r>
            <a:endParaRPr lang="en-US" sz="1260" b="0" u="none" strike="noStrike">
              <a:solidFill>
                <a:srgbClr val="000000"/>
              </a:solidFill>
              <a:effectLst/>
              <a:uFillTx/>
              <a:latin typeface="Arial"/>
            </a:endParaRPr>
          </a:p>
        </p:txBody>
      </p:sp>
      <p:sp>
        <p:nvSpPr>
          <p:cNvPr id="246" name="Shape 25"/>
          <p:cNvSpPr/>
          <p:nvPr/>
        </p:nvSpPr>
        <p:spPr>
          <a:xfrm>
            <a:off x="8796600" y="1417320"/>
            <a:ext cx="2239920" cy="502560"/>
          </a:xfrm>
          <a:prstGeom prst="roundRect">
            <a:avLst>
              <a:gd name="adj" fmla="val 14545"/>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7" name="Text 26"/>
          <p:cNvSpPr/>
          <p:nvPr/>
        </p:nvSpPr>
        <p:spPr>
          <a:xfrm>
            <a:off x="8906400" y="1490400"/>
            <a:ext cx="2020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60" b="1" u="none" strike="noStrike">
                <a:solidFill>
                  <a:srgbClr val="1F2937"/>
                </a:solidFill>
                <a:effectLst/>
                <a:uFillTx/>
                <a:latin typeface="Arial"/>
                <a:ea typeface="Arial"/>
              </a:rPr>
              <a:t>Tìm kiếm từ khóa</a:t>
            </a:r>
            <a:endParaRPr lang="en-US" sz="1260" b="0" u="none" strike="noStrike">
              <a:solidFill>
                <a:srgbClr val="000000"/>
              </a:solidFill>
              <a:effectLst/>
              <a:uFillTx/>
              <a:latin typeface="Arial"/>
            </a:endParaRPr>
          </a:p>
        </p:txBody>
      </p:sp>
      <p:sp>
        <p:nvSpPr>
          <p:cNvPr id="248" name="Shape 27"/>
          <p:cNvSpPr/>
          <p:nvPr/>
        </p:nvSpPr>
        <p:spPr>
          <a:xfrm>
            <a:off x="8796600" y="2331720"/>
            <a:ext cx="2239920" cy="502560"/>
          </a:xfrm>
          <a:prstGeom prst="roundRect">
            <a:avLst>
              <a:gd name="adj" fmla="val 14545"/>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9" name="Text 28"/>
          <p:cNvSpPr/>
          <p:nvPr/>
        </p:nvSpPr>
        <p:spPr>
          <a:xfrm>
            <a:off x="8906400" y="2404800"/>
            <a:ext cx="2020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60" b="1" u="none" strike="noStrike">
                <a:solidFill>
                  <a:srgbClr val="1F2937"/>
                </a:solidFill>
                <a:effectLst/>
                <a:uFillTx/>
                <a:latin typeface="Arial"/>
                <a:ea typeface="Arial"/>
              </a:rPr>
              <a:t>Lọc ngành nghề</a:t>
            </a:r>
            <a:endParaRPr lang="en-US" sz="1260" b="0" u="none" strike="noStrike">
              <a:solidFill>
                <a:srgbClr val="000000"/>
              </a:solidFill>
              <a:effectLst/>
              <a:uFillTx/>
              <a:latin typeface="Arial"/>
            </a:endParaRPr>
          </a:p>
        </p:txBody>
      </p:sp>
      <p:sp>
        <p:nvSpPr>
          <p:cNvPr id="250" name="Shape 29"/>
          <p:cNvSpPr/>
          <p:nvPr/>
        </p:nvSpPr>
        <p:spPr>
          <a:xfrm>
            <a:off x="8796600" y="3246120"/>
            <a:ext cx="2239920" cy="502560"/>
          </a:xfrm>
          <a:prstGeom prst="roundRect">
            <a:avLst>
              <a:gd name="adj" fmla="val 14545"/>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1" name="Text 30"/>
          <p:cNvSpPr/>
          <p:nvPr/>
        </p:nvSpPr>
        <p:spPr>
          <a:xfrm>
            <a:off x="8906400" y="3319200"/>
            <a:ext cx="2020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60" b="1" u="none" strike="noStrike">
                <a:solidFill>
                  <a:srgbClr val="1F2937"/>
                </a:solidFill>
                <a:effectLst/>
                <a:uFillTx/>
                <a:latin typeface="Arial"/>
                <a:ea typeface="Arial"/>
              </a:rPr>
              <a:t>Nhà tuyển dụng</a:t>
            </a:r>
            <a:endParaRPr lang="en-US" sz="1260" b="0" u="none" strike="noStrike">
              <a:solidFill>
                <a:srgbClr val="000000"/>
              </a:solidFill>
              <a:effectLst/>
              <a:uFillTx/>
              <a:latin typeface="Arial"/>
            </a:endParaRPr>
          </a:p>
        </p:txBody>
      </p:sp>
      <p:sp>
        <p:nvSpPr>
          <p:cNvPr id="252" name="Shape 31"/>
          <p:cNvSpPr/>
          <p:nvPr/>
        </p:nvSpPr>
        <p:spPr>
          <a:xfrm>
            <a:off x="8796600" y="4160520"/>
            <a:ext cx="2239920" cy="502560"/>
          </a:xfrm>
          <a:prstGeom prst="roundRect">
            <a:avLst>
              <a:gd name="adj" fmla="val 14545"/>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3" name="Text 32"/>
          <p:cNvSpPr/>
          <p:nvPr/>
        </p:nvSpPr>
        <p:spPr>
          <a:xfrm>
            <a:off x="8906400" y="4233600"/>
            <a:ext cx="2020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60" b="1" u="none" strike="noStrike">
                <a:solidFill>
                  <a:srgbClr val="1F2937"/>
                </a:solidFill>
                <a:effectLst/>
                <a:uFillTx/>
                <a:latin typeface="Arial"/>
                <a:ea typeface="Arial"/>
              </a:rPr>
              <a:t>Tin tức / liên hệ</a:t>
            </a:r>
            <a:endParaRPr lang="en-US" sz="1260" b="0" u="none" strike="noStrike">
              <a:solidFill>
                <a:srgbClr val="000000"/>
              </a:solidFill>
              <a:effectLst/>
              <a:uFillTx/>
              <a:latin typeface="Arial"/>
            </a:endParaRPr>
          </a:p>
        </p:txBody>
      </p:sp>
      <p:sp>
        <p:nvSpPr>
          <p:cNvPr id="254" name="Text 33"/>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255" name="PlaceHolder 1"/>
          <p:cNvSpPr>
            <a:spLocks noGrp="1"/>
          </p:cNvSpPr>
          <p:nvPr>
            <p:ph type="sldNum" idx="12"/>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A9B1F1D0-6110-46C6-8306-8A11300AAF55}" type="slidenum">
              <a:rPr lang="en-US" sz="800" b="0" u="none" strike="noStrike">
                <a:solidFill>
                  <a:srgbClr val="8392A5"/>
                </a:solidFill>
                <a:effectLst/>
                <a:uFillTx/>
                <a:latin typeface="Arial"/>
                <a:ea typeface="Arial"/>
              </a:rPr>
              <a:t>8</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5102"/>
    </mc:Choice>
    <mc:Fallback xmlns="">
      <p:transition spd="slow" advTm="2510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256"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7"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QUẢN TRỊ</a:t>
            </a:r>
            <a:endParaRPr lang="en-US" sz="880" b="0" u="none" strike="noStrike">
              <a:solidFill>
                <a:srgbClr val="000000"/>
              </a:solidFill>
              <a:effectLst/>
              <a:uFillTx/>
              <a:latin typeface="Arial"/>
            </a:endParaRPr>
          </a:p>
        </p:txBody>
      </p:sp>
      <p:sp>
        <p:nvSpPr>
          <p:cNvPr id="258"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Chức năng dành cho quản trị viên</a:t>
            </a:r>
            <a:endParaRPr lang="en-US" sz="2800" b="0" u="none" strike="noStrike">
              <a:solidFill>
                <a:srgbClr val="000000"/>
              </a:solidFill>
              <a:effectLst/>
              <a:uFillTx/>
              <a:latin typeface="Arial"/>
            </a:endParaRPr>
          </a:p>
        </p:txBody>
      </p:sp>
      <p:sp>
        <p:nvSpPr>
          <p:cNvPr id="259"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Quản trị qua Joomla Administrator tại /administrator</a:t>
            </a:r>
            <a:endParaRPr lang="en-US" sz="1050" b="0" u="none" strike="noStrike">
              <a:solidFill>
                <a:srgbClr val="000000"/>
              </a:solidFill>
              <a:effectLst/>
              <a:uFillTx/>
              <a:latin typeface="Arial"/>
            </a:endParaRPr>
          </a:p>
        </p:txBody>
      </p:sp>
      <p:sp>
        <p:nvSpPr>
          <p:cNvPr id="260"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1" name="Shape 5"/>
          <p:cNvSpPr/>
          <p:nvPr/>
        </p:nvSpPr>
        <p:spPr>
          <a:xfrm>
            <a:off x="2103120" y="3063240"/>
            <a:ext cx="5486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2" name="Shape 6"/>
          <p:cNvSpPr/>
          <p:nvPr/>
        </p:nvSpPr>
        <p:spPr>
          <a:xfrm>
            <a:off x="4005000" y="3063240"/>
            <a:ext cx="5486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3" name="Shape 7"/>
          <p:cNvSpPr/>
          <p:nvPr/>
        </p:nvSpPr>
        <p:spPr>
          <a:xfrm>
            <a:off x="5906880" y="3063240"/>
            <a:ext cx="5486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4" name="Shape 8"/>
          <p:cNvSpPr/>
          <p:nvPr/>
        </p:nvSpPr>
        <p:spPr>
          <a:xfrm>
            <a:off x="7808760" y="3063240"/>
            <a:ext cx="5486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5" name="Shape 9"/>
          <p:cNvSpPr/>
          <p:nvPr/>
        </p:nvSpPr>
        <p:spPr>
          <a:xfrm>
            <a:off x="9710640" y="3063240"/>
            <a:ext cx="5486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6" name="Shape 10"/>
          <p:cNvSpPr/>
          <p:nvPr/>
        </p:nvSpPr>
        <p:spPr>
          <a:xfrm>
            <a:off x="841320" y="2560320"/>
            <a:ext cx="1325520" cy="1005480"/>
          </a:xfrm>
          <a:prstGeom prst="roundRect">
            <a:avLst>
              <a:gd name="adj" fmla="val 7273"/>
            </a:avLst>
          </a:prstGeom>
          <a:solidFill>
            <a:srgbClr val="EAF4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7" name="Text 11"/>
          <p:cNvSpPr/>
          <p:nvPr/>
        </p:nvSpPr>
        <p:spPr>
          <a:xfrm>
            <a:off x="951120" y="2633400"/>
            <a:ext cx="110592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0B4F9C"/>
                </a:solidFill>
                <a:effectLst/>
                <a:uFillTx/>
                <a:latin typeface="Arial"/>
                <a:ea typeface="Arial"/>
              </a:rPr>
              <a:t>Đăng nhập</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0B4F9C"/>
                </a:solidFill>
                <a:effectLst/>
                <a:uFillTx/>
                <a:latin typeface="Arial"/>
                <a:ea typeface="Arial"/>
              </a:rPr>
              <a:t>Administrator</a:t>
            </a:r>
            <a:endParaRPr lang="en-US" sz="1320" b="0" u="none" strike="noStrike">
              <a:solidFill>
                <a:srgbClr val="000000"/>
              </a:solidFill>
              <a:effectLst/>
              <a:uFillTx/>
              <a:latin typeface="Arial"/>
            </a:endParaRPr>
          </a:p>
        </p:txBody>
      </p:sp>
      <p:sp>
        <p:nvSpPr>
          <p:cNvPr id="268" name="Shape 12"/>
          <p:cNvSpPr/>
          <p:nvPr/>
        </p:nvSpPr>
        <p:spPr>
          <a:xfrm>
            <a:off x="2743200" y="2560320"/>
            <a:ext cx="1325520" cy="1005480"/>
          </a:xfrm>
          <a:prstGeom prst="roundRect">
            <a:avLst>
              <a:gd name="adj" fmla="val 7273"/>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9" name="Text 13"/>
          <p:cNvSpPr/>
          <p:nvPr/>
        </p:nvSpPr>
        <p:spPr>
          <a:xfrm>
            <a:off x="2853000" y="2633400"/>
            <a:ext cx="110592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Quản lý</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bài viết</a:t>
            </a:r>
            <a:endParaRPr lang="en-US" sz="1320" b="0" u="none" strike="noStrike">
              <a:solidFill>
                <a:srgbClr val="000000"/>
              </a:solidFill>
              <a:effectLst/>
              <a:uFillTx/>
              <a:latin typeface="Arial"/>
            </a:endParaRPr>
          </a:p>
        </p:txBody>
      </p:sp>
      <p:sp>
        <p:nvSpPr>
          <p:cNvPr id="270" name="Shape 14"/>
          <p:cNvSpPr/>
          <p:nvPr/>
        </p:nvSpPr>
        <p:spPr>
          <a:xfrm>
            <a:off x="4645080" y="2560320"/>
            <a:ext cx="1325520" cy="1005480"/>
          </a:xfrm>
          <a:prstGeom prst="roundRect">
            <a:avLst>
              <a:gd name="adj" fmla="val 7273"/>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1" name="Text 15"/>
          <p:cNvSpPr/>
          <p:nvPr/>
        </p:nvSpPr>
        <p:spPr>
          <a:xfrm>
            <a:off x="4754880" y="2633400"/>
            <a:ext cx="110592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Quản lý</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danh mục</a:t>
            </a:r>
            <a:endParaRPr lang="en-US" sz="1320" b="0" u="none" strike="noStrike">
              <a:solidFill>
                <a:srgbClr val="000000"/>
              </a:solidFill>
              <a:effectLst/>
              <a:uFillTx/>
              <a:latin typeface="Arial"/>
            </a:endParaRPr>
          </a:p>
        </p:txBody>
      </p:sp>
      <p:sp>
        <p:nvSpPr>
          <p:cNvPr id="272" name="Shape 16"/>
          <p:cNvSpPr/>
          <p:nvPr/>
        </p:nvSpPr>
        <p:spPr>
          <a:xfrm>
            <a:off x="6546960" y="2560320"/>
            <a:ext cx="1325520" cy="1005480"/>
          </a:xfrm>
          <a:prstGeom prst="roundRect">
            <a:avLst>
              <a:gd name="adj" fmla="val 7273"/>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3" name="Text 17"/>
          <p:cNvSpPr/>
          <p:nvPr/>
        </p:nvSpPr>
        <p:spPr>
          <a:xfrm>
            <a:off x="6656760" y="2633400"/>
            <a:ext cx="110592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Menu &amp;</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module</a:t>
            </a:r>
            <a:endParaRPr lang="en-US" sz="1320" b="0" u="none" strike="noStrike">
              <a:solidFill>
                <a:srgbClr val="000000"/>
              </a:solidFill>
              <a:effectLst/>
              <a:uFillTx/>
              <a:latin typeface="Arial"/>
            </a:endParaRPr>
          </a:p>
        </p:txBody>
      </p:sp>
      <p:sp>
        <p:nvSpPr>
          <p:cNvPr id="274" name="Shape 18"/>
          <p:cNvSpPr/>
          <p:nvPr/>
        </p:nvSpPr>
        <p:spPr>
          <a:xfrm>
            <a:off x="8449200" y="2560320"/>
            <a:ext cx="1325520" cy="1005480"/>
          </a:xfrm>
          <a:prstGeom prst="roundRect">
            <a:avLst>
              <a:gd name="adj" fmla="val 7273"/>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5" name="Text 19"/>
          <p:cNvSpPr/>
          <p:nvPr/>
        </p:nvSpPr>
        <p:spPr>
          <a:xfrm>
            <a:off x="8558640" y="2633400"/>
            <a:ext cx="110592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Smart Search</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index</a:t>
            </a:r>
            <a:endParaRPr lang="en-US" sz="1320" b="0" u="none" strike="noStrike">
              <a:solidFill>
                <a:srgbClr val="000000"/>
              </a:solidFill>
              <a:effectLst/>
              <a:uFillTx/>
              <a:latin typeface="Arial"/>
            </a:endParaRPr>
          </a:p>
        </p:txBody>
      </p:sp>
      <p:sp>
        <p:nvSpPr>
          <p:cNvPr id="276" name="Shape 20"/>
          <p:cNvSpPr/>
          <p:nvPr/>
        </p:nvSpPr>
        <p:spPr>
          <a:xfrm>
            <a:off x="10351080" y="2560320"/>
            <a:ext cx="1325520" cy="1005480"/>
          </a:xfrm>
          <a:prstGeom prst="roundRect">
            <a:avLst>
              <a:gd name="adj" fmla="val 7273"/>
            </a:avLst>
          </a:prstGeom>
          <a:solidFill>
            <a:srgbClr val="FFF4E6"/>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7" name="Text 21"/>
          <p:cNvSpPr/>
          <p:nvPr/>
        </p:nvSpPr>
        <p:spPr>
          <a:xfrm>
            <a:off x="10460880" y="2633400"/>
            <a:ext cx="1105920" cy="859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F58220"/>
                </a:solidFill>
                <a:effectLst/>
                <a:uFillTx/>
                <a:latin typeface="Arial"/>
                <a:ea typeface="Arial"/>
              </a:rPr>
              <a:t>Sao lưu</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F58220"/>
                </a:solidFill>
                <a:effectLst/>
                <a:uFillTx/>
                <a:latin typeface="Arial"/>
                <a:ea typeface="Arial"/>
              </a:rPr>
              <a:t>phục hồi</a:t>
            </a:r>
            <a:endParaRPr lang="en-US" sz="1320" b="0" u="none" strike="noStrike">
              <a:solidFill>
                <a:srgbClr val="000000"/>
              </a:solidFill>
              <a:effectLst/>
              <a:uFillTx/>
              <a:latin typeface="Arial"/>
            </a:endParaRPr>
          </a:p>
        </p:txBody>
      </p:sp>
      <p:sp>
        <p:nvSpPr>
          <p:cNvPr id="278" name="Shape 22"/>
          <p:cNvSpPr/>
          <p:nvPr/>
        </p:nvSpPr>
        <p:spPr>
          <a:xfrm>
            <a:off x="1188720" y="4663440"/>
            <a:ext cx="9738000" cy="822600"/>
          </a:xfrm>
          <a:prstGeom prst="roundRect">
            <a:avLst>
              <a:gd name="adj" fmla="val 6667"/>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9" name="Text 23"/>
          <p:cNvSpPr/>
          <p:nvPr/>
        </p:nvSpPr>
        <p:spPr>
          <a:xfrm>
            <a:off x="1508760" y="4901040"/>
            <a:ext cx="9097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7500" lnSpcReduction="20000"/>
          </a:bodyPr>
          <a:lstStyle/>
          <a:p>
            <a:pPr algn="ctr" defTabSz="914400">
              <a:lnSpc>
                <a:spcPct val="100000"/>
              </a:lnSpc>
              <a:tabLst>
                <a:tab pos="0" algn="l"/>
              </a:tabLst>
            </a:pPr>
            <a:r>
              <a:rPr lang="en-US" sz="1450" b="0" u="none" strike="noStrike">
                <a:solidFill>
                  <a:srgbClr val="1F2937"/>
                </a:solidFill>
                <a:effectLst/>
                <a:uFillTx/>
                <a:latin typeface="Arial"/>
              </a:rPr>
              <a:t>Ý nghĩa: Quản trị viên có thể cập nhật tin việc làm, bài giới thiệu, menu, module và dữ liệu tìm kiếm mà không cần sửa trực tiếp mã nguồn website.</a:t>
            </a:r>
            <a:endParaRPr lang="en-US" sz="1450" b="0" u="none" strike="noStrike">
              <a:solidFill>
                <a:srgbClr val="000000"/>
              </a:solidFill>
              <a:effectLst/>
              <a:uFillTx/>
              <a:latin typeface="Arial"/>
            </a:endParaRPr>
          </a:p>
        </p:txBody>
      </p:sp>
      <p:sp>
        <p:nvSpPr>
          <p:cNvPr id="280" name="Text 24"/>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281" name="PlaceHolder 1"/>
          <p:cNvSpPr>
            <a:spLocks noGrp="1"/>
          </p:cNvSpPr>
          <p:nvPr>
            <p:ph type="sldNum" idx="13"/>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CD2160A3-C7A6-4FEA-9F40-5AC71E84DD26}" type="slidenum">
              <a:rPr lang="en-US" sz="800" b="0" u="none" strike="noStrike">
                <a:solidFill>
                  <a:srgbClr val="8392A5"/>
                </a:solidFill>
                <a:effectLst/>
                <a:uFillTx/>
                <a:latin typeface="Arial"/>
                <a:ea typeface="Arial"/>
              </a:rPr>
              <a:t>9</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33695"/>
    </mc:Choice>
    <mc:Fallback xmlns="">
      <p:transition spd="slow" advTm="3369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282"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3"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KIẾN TRÚC</a:t>
            </a:r>
            <a:endParaRPr lang="en-US" sz="880" b="0" u="none" strike="noStrike">
              <a:solidFill>
                <a:srgbClr val="000000"/>
              </a:solidFill>
              <a:effectLst/>
              <a:uFillTx/>
              <a:latin typeface="Arial"/>
            </a:endParaRPr>
          </a:p>
        </p:txBody>
      </p:sp>
      <p:sp>
        <p:nvSpPr>
          <p:cNvPr id="284"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Kiến trúc tổng thể hệ thống</a:t>
            </a:r>
            <a:endParaRPr lang="en-US" sz="2800" b="0" u="none" strike="noStrike">
              <a:solidFill>
                <a:srgbClr val="000000"/>
              </a:solidFill>
              <a:effectLst/>
              <a:uFillTx/>
              <a:latin typeface="Arial"/>
            </a:endParaRPr>
          </a:p>
        </p:txBody>
      </p:sp>
      <p:sp>
        <p:nvSpPr>
          <p:cNvPr id="285"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Luồng xử lý từ người dùng đến dữ liệu trong môi trường XAMPP local</a:t>
            </a:r>
            <a:endParaRPr lang="en-US" sz="1050" b="0" u="none" strike="noStrike">
              <a:solidFill>
                <a:srgbClr val="000000"/>
              </a:solidFill>
              <a:effectLst/>
              <a:uFillTx/>
              <a:latin typeface="Arial"/>
            </a:endParaRPr>
          </a:p>
        </p:txBody>
      </p:sp>
      <p:sp>
        <p:nvSpPr>
          <p:cNvPr id="286"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87" name="Shape 5"/>
          <p:cNvSpPr/>
          <p:nvPr/>
        </p:nvSpPr>
        <p:spPr>
          <a:xfrm>
            <a:off x="2788920" y="2926080"/>
            <a:ext cx="914400" cy="360"/>
          </a:xfrm>
          <a:prstGeom prst="line">
            <a:avLst/>
          </a:prstGeom>
          <a:ln w="25400">
            <a:solidFill>
              <a:srgbClr val="0B4F9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88" name="Shape 6"/>
          <p:cNvSpPr/>
          <p:nvPr/>
        </p:nvSpPr>
        <p:spPr>
          <a:xfrm>
            <a:off x="4827960" y="2926080"/>
            <a:ext cx="914400" cy="360"/>
          </a:xfrm>
          <a:prstGeom prst="line">
            <a:avLst/>
          </a:prstGeom>
          <a:ln w="25400">
            <a:solidFill>
              <a:srgbClr val="0B4F9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89" name="Shape 7"/>
          <p:cNvSpPr/>
          <p:nvPr/>
        </p:nvSpPr>
        <p:spPr>
          <a:xfrm>
            <a:off x="6876000" y="2926080"/>
            <a:ext cx="914400" cy="360"/>
          </a:xfrm>
          <a:prstGeom prst="line">
            <a:avLst/>
          </a:prstGeom>
          <a:ln w="25400">
            <a:solidFill>
              <a:srgbClr val="0B4F9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90" name="Shape 8"/>
          <p:cNvSpPr/>
          <p:nvPr/>
        </p:nvSpPr>
        <p:spPr>
          <a:xfrm>
            <a:off x="8915400" y="2926080"/>
            <a:ext cx="914400" cy="360"/>
          </a:xfrm>
          <a:prstGeom prst="line">
            <a:avLst/>
          </a:prstGeom>
          <a:ln w="25400">
            <a:solidFill>
              <a:srgbClr val="0B4F9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91" name="Shape 9"/>
          <p:cNvSpPr/>
          <p:nvPr/>
        </p:nvSpPr>
        <p:spPr>
          <a:xfrm>
            <a:off x="1051560" y="2331720"/>
            <a:ext cx="1737000" cy="1188360"/>
          </a:xfrm>
          <a:prstGeom prst="roundRect">
            <a:avLst>
              <a:gd name="adj" fmla="val 6154"/>
            </a:avLst>
          </a:prstGeom>
          <a:solidFill>
            <a:srgbClr val="EAF4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2" name="Text 10"/>
          <p:cNvSpPr/>
          <p:nvPr/>
        </p:nvSpPr>
        <p:spPr>
          <a:xfrm>
            <a:off x="1161360" y="2404800"/>
            <a:ext cx="1517400" cy="1042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0B4F9C"/>
                </a:solidFill>
                <a:effectLst/>
                <a:uFillTx/>
                <a:latin typeface="Arial"/>
                <a:ea typeface="Arial"/>
              </a:rPr>
              <a:t>Trình duyệt</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0B4F9C"/>
                </a:solidFill>
                <a:effectLst/>
                <a:uFillTx/>
                <a:latin typeface="Arial"/>
                <a:ea typeface="Arial"/>
              </a:rPr>
              <a:t>Chrome / Edge</a:t>
            </a:r>
            <a:endParaRPr lang="en-US" sz="1320" b="0" u="none" strike="noStrike">
              <a:solidFill>
                <a:srgbClr val="000000"/>
              </a:solidFill>
              <a:effectLst/>
              <a:uFillTx/>
              <a:latin typeface="Arial"/>
            </a:endParaRPr>
          </a:p>
        </p:txBody>
      </p:sp>
      <p:sp>
        <p:nvSpPr>
          <p:cNvPr id="293" name="Shape 11"/>
          <p:cNvSpPr/>
          <p:nvPr/>
        </p:nvSpPr>
        <p:spPr>
          <a:xfrm>
            <a:off x="3703320" y="2331720"/>
            <a:ext cx="1737000" cy="1188360"/>
          </a:xfrm>
          <a:prstGeom prst="roundRect">
            <a:avLst>
              <a:gd name="adj" fmla="val 6154"/>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4" name="Text 12"/>
          <p:cNvSpPr/>
          <p:nvPr/>
        </p:nvSpPr>
        <p:spPr>
          <a:xfrm>
            <a:off x="3813120" y="2404800"/>
            <a:ext cx="1517400" cy="1042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Giao diện</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HTML · CSS · JS</a:t>
            </a:r>
            <a:endParaRPr lang="en-US" sz="1320" b="0" u="none" strike="noStrike">
              <a:solidFill>
                <a:srgbClr val="000000"/>
              </a:solidFill>
              <a:effectLst/>
              <a:uFillTx/>
              <a:latin typeface="Arial"/>
            </a:endParaRPr>
          </a:p>
        </p:txBody>
      </p:sp>
      <p:sp>
        <p:nvSpPr>
          <p:cNvPr id="295" name="Shape 13"/>
          <p:cNvSpPr/>
          <p:nvPr/>
        </p:nvSpPr>
        <p:spPr>
          <a:xfrm>
            <a:off x="5742360" y="2331720"/>
            <a:ext cx="1737000" cy="1188360"/>
          </a:xfrm>
          <a:prstGeom prst="roundRect">
            <a:avLst>
              <a:gd name="adj" fmla="val 6154"/>
            </a:avLst>
          </a:prstGeom>
          <a:solidFill>
            <a:srgbClr val="F1FBF5"/>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6" name="Text 14"/>
          <p:cNvSpPr/>
          <p:nvPr/>
        </p:nvSpPr>
        <p:spPr>
          <a:xfrm>
            <a:off x="5852160" y="2404800"/>
            <a:ext cx="1517400" cy="1042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8A558"/>
                </a:solidFill>
                <a:effectLst/>
                <a:uFillTx/>
                <a:latin typeface="Arial"/>
                <a:ea typeface="Arial"/>
              </a:rPr>
              <a:t>Joomla CMS</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8A558"/>
                </a:solidFill>
                <a:effectLst/>
                <a:uFillTx/>
                <a:latin typeface="Arial"/>
                <a:ea typeface="Arial"/>
              </a:rPr>
              <a:t>Articles · Modules</a:t>
            </a:r>
            <a:endParaRPr lang="en-US" sz="1320" b="0" u="none" strike="noStrike">
              <a:solidFill>
                <a:srgbClr val="000000"/>
              </a:solidFill>
              <a:effectLst/>
              <a:uFillTx/>
              <a:latin typeface="Arial"/>
            </a:endParaRPr>
          </a:p>
        </p:txBody>
      </p:sp>
      <p:sp>
        <p:nvSpPr>
          <p:cNvPr id="297" name="Shape 15"/>
          <p:cNvSpPr/>
          <p:nvPr/>
        </p:nvSpPr>
        <p:spPr>
          <a:xfrm>
            <a:off x="7790760" y="2331720"/>
            <a:ext cx="1737000" cy="1188360"/>
          </a:xfrm>
          <a:prstGeom prst="roundRect">
            <a:avLst>
              <a:gd name="adj" fmla="val 6154"/>
            </a:avLst>
          </a:prstGeom>
          <a:solidFill>
            <a:srgbClr val="FFF4E6"/>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8" name="Text 16"/>
          <p:cNvSpPr/>
          <p:nvPr/>
        </p:nvSpPr>
        <p:spPr>
          <a:xfrm>
            <a:off x="7900560" y="2404800"/>
            <a:ext cx="1517400" cy="1042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F58220"/>
                </a:solidFill>
                <a:effectLst/>
                <a:uFillTx/>
                <a:latin typeface="Arial"/>
                <a:ea typeface="Arial"/>
              </a:rPr>
              <a:t>MariaDB</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F58220"/>
                </a:solidFill>
                <a:effectLst/>
                <a:uFillTx/>
                <a:latin typeface="Arial"/>
                <a:ea typeface="Arial"/>
              </a:rPr>
              <a:t>joomla_db</a:t>
            </a:r>
            <a:endParaRPr lang="en-US" sz="1320" b="0" u="none" strike="noStrike">
              <a:solidFill>
                <a:srgbClr val="000000"/>
              </a:solidFill>
              <a:effectLst/>
              <a:uFillTx/>
              <a:latin typeface="Arial"/>
            </a:endParaRPr>
          </a:p>
        </p:txBody>
      </p:sp>
      <p:sp>
        <p:nvSpPr>
          <p:cNvPr id="299" name="Shape 17"/>
          <p:cNvSpPr/>
          <p:nvPr/>
        </p:nvSpPr>
        <p:spPr>
          <a:xfrm>
            <a:off x="9829800" y="2331720"/>
            <a:ext cx="1737000" cy="1188360"/>
          </a:xfrm>
          <a:prstGeom prst="roundRect">
            <a:avLst>
              <a:gd name="adj" fmla="val 6154"/>
            </a:avLst>
          </a:prstGeom>
          <a:solidFill>
            <a:srgbClr val="EDE9FE"/>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0" name="Text 18"/>
          <p:cNvSpPr/>
          <p:nvPr/>
        </p:nvSpPr>
        <p:spPr>
          <a:xfrm>
            <a:off x="9939600" y="2404800"/>
            <a:ext cx="1517400" cy="1042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6D28D9"/>
                </a:solidFill>
                <a:effectLst/>
                <a:uFillTx/>
                <a:latin typeface="Arial"/>
                <a:ea typeface="Arial"/>
              </a:rPr>
              <a:t>XAMPP</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6D28D9"/>
                </a:solidFill>
                <a:effectLst/>
                <a:uFillTx/>
                <a:latin typeface="Arial"/>
                <a:ea typeface="Arial"/>
              </a:rPr>
              <a:t>Apache + PHP</a:t>
            </a:r>
            <a:endParaRPr lang="en-US" sz="1320" b="0" u="none" strike="noStrike">
              <a:solidFill>
                <a:srgbClr val="000000"/>
              </a:solidFill>
              <a:effectLst/>
              <a:uFillTx/>
              <a:latin typeface="Arial"/>
            </a:endParaRPr>
          </a:p>
        </p:txBody>
      </p:sp>
      <p:sp>
        <p:nvSpPr>
          <p:cNvPr id="301" name="Text 19"/>
          <p:cNvSpPr/>
          <p:nvPr/>
        </p:nvSpPr>
        <p:spPr>
          <a:xfrm>
            <a:off x="1005840" y="429768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B2E59"/>
                </a:solidFill>
                <a:effectLst/>
                <a:uFillTx/>
                <a:latin typeface="Arial"/>
              </a:rPr>
              <a:t>Đặc điểm kiến trúc</a:t>
            </a:r>
            <a:endParaRPr lang="en-US" sz="1800" b="0" u="none" strike="noStrike">
              <a:solidFill>
                <a:srgbClr val="000000"/>
              </a:solidFill>
              <a:effectLst/>
              <a:uFillTx/>
              <a:latin typeface="Arial"/>
            </a:endParaRPr>
          </a:p>
        </p:txBody>
      </p:sp>
      <p:sp>
        <p:nvSpPr>
          <p:cNvPr id="302" name="Shape 20"/>
          <p:cNvSpPr/>
          <p:nvPr/>
        </p:nvSpPr>
        <p:spPr>
          <a:xfrm>
            <a:off x="1051560" y="475488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03" name="Text 21"/>
          <p:cNvSpPr/>
          <p:nvPr/>
        </p:nvSpPr>
        <p:spPr>
          <a:xfrm>
            <a:off x="1252800" y="4709160"/>
            <a:ext cx="9692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F2937"/>
                </a:solidFill>
                <a:effectLst/>
                <a:uFillTx/>
                <a:latin typeface="Arial"/>
                <a:ea typeface="Arial"/>
              </a:rPr>
              <a:t>Mô hình website nội dung: quản trị cập nhật → Joomla lưu DB → front-end hiển thị.</a:t>
            </a:r>
            <a:endParaRPr lang="en-US" sz="1400" b="0" u="none" strike="noStrike">
              <a:solidFill>
                <a:srgbClr val="000000"/>
              </a:solidFill>
              <a:effectLst/>
              <a:uFillTx/>
              <a:latin typeface="Arial"/>
            </a:endParaRPr>
          </a:p>
        </p:txBody>
      </p:sp>
      <p:sp>
        <p:nvSpPr>
          <p:cNvPr id="304" name="Shape 22"/>
          <p:cNvSpPr/>
          <p:nvPr/>
        </p:nvSpPr>
        <p:spPr>
          <a:xfrm>
            <a:off x="1051560" y="521208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05" name="Text 23"/>
          <p:cNvSpPr/>
          <p:nvPr/>
        </p:nvSpPr>
        <p:spPr>
          <a:xfrm>
            <a:off x="1252800" y="5166360"/>
            <a:ext cx="9692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F2937"/>
                </a:solidFill>
                <a:effectLst/>
                <a:uFillTx/>
                <a:latin typeface="Arial"/>
                <a:ea typeface="Arial"/>
              </a:rPr>
              <a:t>Chạy local phục vụ học tập và kiểm thử; chưa triển khai hosting chính thức.</a:t>
            </a:r>
            <a:endParaRPr lang="en-US" sz="1400" b="0" u="none" strike="noStrike">
              <a:solidFill>
                <a:srgbClr val="000000"/>
              </a:solidFill>
              <a:effectLst/>
              <a:uFillTx/>
              <a:latin typeface="Arial"/>
            </a:endParaRPr>
          </a:p>
        </p:txBody>
      </p:sp>
      <p:sp>
        <p:nvSpPr>
          <p:cNvPr id="306" name="Text 24"/>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307" name="PlaceHolder 1"/>
          <p:cNvSpPr>
            <a:spLocks noGrp="1"/>
          </p:cNvSpPr>
          <p:nvPr>
            <p:ph type="sldNum" idx="14"/>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4F201B87-9CAD-4BBB-870C-CBF66070390A}" type="slidenum">
              <a:rPr lang="en-US" sz="800" b="0" u="none" strike="noStrike">
                <a:solidFill>
                  <a:srgbClr val="8392A5"/>
                </a:solidFill>
                <a:effectLst/>
                <a:uFillTx/>
                <a:latin typeface="Arial"/>
                <a:ea typeface="Arial"/>
              </a:rPr>
              <a:t>10</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46658"/>
    </mc:Choice>
    <mc:Fallback xmlns="">
      <p:transition spd="slow" advTm="4665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308"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9"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CƠ SỞ DỮ LIỆU</a:t>
            </a:r>
            <a:endParaRPr lang="en-US" sz="880" b="0" u="none" strike="noStrike">
              <a:solidFill>
                <a:srgbClr val="000000"/>
              </a:solidFill>
              <a:effectLst/>
              <a:uFillTx/>
              <a:latin typeface="Arial"/>
            </a:endParaRPr>
          </a:p>
        </p:txBody>
      </p:sp>
      <p:sp>
        <p:nvSpPr>
          <p:cNvPr id="310"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Cấu trúc dữ liệu Joomla sử dụng</a:t>
            </a:r>
            <a:endParaRPr lang="en-US" sz="2800" b="0" u="none" strike="noStrike">
              <a:solidFill>
                <a:srgbClr val="000000"/>
              </a:solidFill>
              <a:effectLst/>
              <a:uFillTx/>
              <a:latin typeface="Arial"/>
            </a:endParaRPr>
          </a:p>
        </p:txBody>
      </p:sp>
      <p:sp>
        <p:nvSpPr>
          <p:cNvPr id="311"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Không thiết kế CSDL từ đầu, hệ thống khai thác các bảng lõi của Joomla</a:t>
            </a:r>
            <a:endParaRPr lang="en-US" sz="1050" b="0" u="none" strike="noStrike">
              <a:solidFill>
                <a:srgbClr val="000000"/>
              </a:solidFill>
              <a:effectLst/>
              <a:uFillTx/>
              <a:latin typeface="Arial"/>
            </a:endParaRPr>
          </a:p>
        </p:txBody>
      </p:sp>
      <p:sp>
        <p:nvSpPr>
          <p:cNvPr id="312"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3" name="Shape 5"/>
          <p:cNvSpPr/>
          <p:nvPr/>
        </p:nvSpPr>
        <p:spPr>
          <a:xfrm>
            <a:off x="2770560" y="3154680"/>
            <a:ext cx="91440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4" name="Shape 6"/>
          <p:cNvSpPr/>
          <p:nvPr/>
        </p:nvSpPr>
        <p:spPr>
          <a:xfrm>
            <a:off x="5422320" y="3154680"/>
            <a:ext cx="91440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5" name="Shape 7"/>
          <p:cNvSpPr/>
          <p:nvPr/>
        </p:nvSpPr>
        <p:spPr>
          <a:xfrm>
            <a:off x="8064720" y="3154680"/>
            <a:ext cx="91440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6" name="Shape 8"/>
          <p:cNvSpPr/>
          <p:nvPr/>
        </p:nvSpPr>
        <p:spPr>
          <a:xfrm>
            <a:off x="868680" y="2697480"/>
            <a:ext cx="1919880" cy="914040"/>
          </a:xfrm>
          <a:prstGeom prst="roundRect">
            <a:avLst>
              <a:gd name="adj" fmla="val 8000"/>
            </a:avLst>
          </a:prstGeom>
          <a:solidFill>
            <a:srgbClr val="F1FBF5"/>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7" name="Text 9"/>
          <p:cNvSpPr/>
          <p:nvPr/>
        </p:nvSpPr>
        <p:spPr>
          <a:xfrm>
            <a:off x="978480" y="2770560"/>
            <a:ext cx="1700280" cy="767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8A558"/>
                </a:solidFill>
                <a:effectLst/>
                <a:uFillTx/>
                <a:latin typeface="Arial"/>
                <a:ea typeface="Arial"/>
              </a:rPr>
              <a:t>#__categories</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8A558"/>
                </a:solidFill>
                <a:effectLst/>
                <a:uFillTx/>
                <a:latin typeface="Arial"/>
                <a:ea typeface="Arial"/>
              </a:rPr>
              <a:t>Danh mục</a:t>
            </a:r>
            <a:endParaRPr lang="en-US" sz="1320" b="0" u="none" strike="noStrike">
              <a:solidFill>
                <a:srgbClr val="000000"/>
              </a:solidFill>
              <a:effectLst/>
              <a:uFillTx/>
              <a:latin typeface="Arial"/>
            </a:endParaRPr>
          </a:p>
        </p:txBody>
      </p:sp>
      <p:sp>
        <p:nvSpPr>
          <p:cNvPr id="318" name="Shape 10"/>
          <p:cNvSpPr/>
          <p:nvPr/>
        </p:nvSpPr>
        <p:spPr>
          <a:xfrm>
            <a:off x="3684960" y="2697480"/>
            <a:ext cx="1737000" cy="914040"/>
          </a:xfrm>
          <a:prstGeom prst="roundRect">
            <a:avLst>
              <a:gd name="adj" fmla="val 8000"/>
            </a:avLst>
          </a:prstGeom>
          <a:solidFill>
            <a:srgbClr val="EAF4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9" name="Text 11"/>
          <p:cNvSpPr/>
          <p:nvPr/>
        </p:nvSpPr>
        <p:spPr>
          <a:xfrm>
            <a:off x="3794760" y="2770560"/>
            <a:ext cx="1517400" cy="767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0B4F9C"/>
                </a:solidFill>
                <a:effectLst/>
                <a:uFillTx/>
                <a:latin typeface="Arial"/>
                <a:ea typeface="Arial"/>
              </a:rPr>
              <a:t>#__content</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0B4F9C"/>
                </a:solidFill>
                <a:effectLst/>
                <a:uFillTx/>
                <a:latin typeface="Arial"/>
                <a:ea typeface="Arial"/>
              </a:rPr>
              <a:t>Bài viết</a:t>
            </a:r>
            <a:endParaRPr lang="en-US" sz="1320" b="0" u="none" strike="noStrike">
              <a:solidFill>
                <a:srgbClr val="000000"/>
              </a:solidFill>
              <a:effectLst/>
              <a:uFillTx/>
              <a:latin typeface="Arial"/>
            </a:endParaRPr>
          </a:p>
        </p:txBody>
      </p:sp>
      <p:sp>
        <p:nvSpPr>
          <p:cNvPr id="320" name="Shape 12"/>
          <p:cNvSpPr/>
          <p:nvPr/>
        </p:nvSpPr>
        <p:spPr>
          <a:xfrm>
            <a:off x="6327720" y="2697480"/>
            <a:ext cx="1737000" cy="914040"/>
          </a:xfrm>
          <a:prstGeom prst="roundRect">
            <a:avLst>
              <a:gd name="adj" fmla="val 8000"/>
            </a:avLst>
          </a:prstGeom>
          <a:solidFill>
            <a:srgbClr val="FFF4E6"/>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1" name="Text 13"/>
          <p:cNvSpPr/>
          <p:nvPr/>
        </p:nvSpPr>
        <p:spPr>
          <a:xfrm>
            <a:off x="6437520" y="2770560"/>
            <a:ext cx="1517400" cy="767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F58220"/>
                </a:solidFill>
                <a:effectLst/>
                <a:uFillTx/>
                <a:latin typeface="Arial"/>
                <a:ea typeface="Arial"/>
              </a:rPr>
              <a:t>#__menu</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F58220"/>
                </a:solidFill>
                <a:effectLst/>
                <a:uFillTx/>
                <a:latin typeface="Arial"/>
                <a:ea typeface="Arial"/>
              </a:rPr>
              <a:t>Menu</a:t>
            </a:r>
            <a:endParaRPr lang="en-US" sz="1320" b="0" u="none" strike="noStrike">
              <a:solidFill>
                <a:srgbClr val="000000"/>
              </a:solidFill>
              <a:effectLst/>
              <a:uFillTx/>
              <a:latin typeface="Arial"/>
            </a:endParaRPr>
          </a:p>
        </p:txBody>
      </p:sp>
      <p:sp>
        <p:nvSpPr>
          <p:cNvPr id="322" name="Shape 14"/>
          <p:cNvSpPr/>
          <p:nvPr/>
        </p:nvSpPr>
        <p:spPr>
          <a:xfrm>
            <a:off x="8979480" y="2697480"/>
            <a:ext cx="1737000" cy="914040"/>
          </a:xfrm>
          <a:prstGeom prst="roundRect">
            <a:avLst>
              <a:gd name="adj" fmla="val 8000"/>
            </a:avLst>
          </a:prstGeom>
          <a:solidFill>
            <a:srgbClr val="EDE9FE"/>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3" name="Text 15"/>
          <p:cNvSpPr/>
          <p:nvPr/>
        </p:nvSpPr>
        <p:spPr>
          <a:xfrm>
            <a:off x="9089280" y="2770560"/>
            <a:ext cx="1517400" cy="767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6D28D9"/>
                </a:solidFill>
                <a:effectLst/>
                <a:uFillTx/>
                <a:latin typeface="Arial"/>
                <a:ea typeface="Arial"/>
              </a:rPr>
              <a:t>#__modules</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6D28D9"/>
                </a:solidFill>
                <a:effectLst/>
                <a:uFillTx/>
                <a:latin typeface="Arial"/>
                <a:ea typeface="Arial"/>
              </a:rPr>
              <a:t>Module</a:t>
            </a:r>
            <a:endParaRPr lang="en-US" sz="1320" b="0" u="none" strike="noStrike">
              <a:solidFill>
                <a:srgbClr val="000000"/>
              </a:solidFill>
              <a:effectLst/>
              <a:uFillTx/>
              <a:latin typeface="Arial"/>
            </a:endParaRPr>
          </a:p>
        </p:txBody>
      </p:sp>
      <p:sp>
        <p:nvSpPr>
          <p:cNvPr id="324" name="Text 16"/>
          <p:cNvSpPr/>
          <p:nvPr/>
        </p:nvSpPr>
        <p:spPr>
          <a:xfrm>
            <a:off x="1005840" y="4251960"/>
            <a:ext cx="3565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B2E59"/>
                </a:solidFill>
                <a:effectLst/>
                <a:uFillTx/>
                <a:latin typeface="Arial"/>
              </a:rPr>
              <a:t>Các bảng quan trọng khác</a:t>
            </a:r>
            <a:endParaRPr lang="en-US" sz="1800" b="0" u="none" strike="noStrike">
              <a:solidFill>
                <a:srgbClr val="000000"/>
              </a:solidFill>
              <a:effectLst/>
              <a:uFillTx/>
              <a:latin typeface="Arial"/>
            </a:endParaRPr>
          </a:p>
        </p:txBody>
      </p:sp>
      <p:sp>
        <p:nvSpPr>
          <p:cNvPr id="325" name="Shape 17"/>
          <p:cNvSpPr/>
          <p:nvPr/>
        </p:nvSpPr>
        <p:spPr>
          <a:xfrm>
            <a:off x="1005840" y="4681800"/>
            <a:ext cx="2971440" cy="310680"/>
          </a:xfrm>
          <a:prstGeom prst="roundRect">
            <a:avLst>
              <a:gd name="adj" fmla="val 17647"/>
            </a:avLst>
          </a:prstGeom>
          <a:solidFill>
            <a:srgbClr val="EAF4FF"/>
          </a:solidFill>
          <a:ln w="10160">
            <a:solidFill>
              <a:srgbClr val="0B4F9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6" name="Text 18"/>
          <p:cNvSpPr/>
          <p:nvPr/>
        </p:nvSpPr>
        <p:spPr>
          <a:xfrm>
            <a:off x="1097280" y="4754880"/>
            <a:ext cx="2788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0B4F9C"/>
                </a:solidFill>
                <a:effectLst/>
                <a:uFillTx/>
                <a:latin typeface="Arial"/>
              </a:rPr>
              <a:t>#__users: tài khoản</a:t>
            </a:r>
            <a:endParaRPr lang="en-US" sz="880" b="0" u="none" strike="noStrike">
              <a:solidFill>
                <a:srgbClr val="000000"/>
              </a:solidFill>
              <a:effectLst/>
              <a:uFillTx/>
              <a:latin typeface="Arial"/>
            </a:endParaRPr>
          </a:p>
        </p:txBody>
      </p:sp>
      <p:sp>
        <p:nvSpPr>
          <p:cNvPr id="327" name="Shape 19"/>
          <p:cNvSpPr/>
          <p:nvPr/>
        </p:nvSpPr>
        <p:spPr>
          <a:xfrm>
            <a:off x="4389120" y="4681800"/>
            <a:ext cx="2971440" cy="310680"/>
          </a:xfrm>
          <a:prstGeom prst="roundRect">
            <a:avLst>
              <a:gd name="adj" fmla="val 17647"/>
            </a:avLst>
          </a:prstGeom>
          <a:solidFill>
            <a:srgbClr val="F1FBF5"/>
          </a:solidFill>
          <a:ln w="10160">
            <a:solidFill>
              <a:srgbClr val="18A5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8" name="Text 20"/>
          <p:cNvSpPr/>
          <p:nvPr/>
        </p:nvSpPr>
        <p:spPr>
          <a:xfrm>
            <a:off x="4480560" y="4754880"/>
            <a:ext cx="2788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18A558"/>
                </a:solidFill>
                <a:effectLst/>
                <a:uFillTx/>
                <a:latin typeface="Arial"/>
              </a:rPr>
              <a:t>#__extensions: thành phần mở rộng</a:t>
            </a:r>
            <a:endParaRPr lang="en-US" sz="880" b="0" u="none" strike="noStrike">
              <a:solidFill>
                <a:srgbClr val="000000"/>
              </a:solidFill>
              <a:effectLst/>
              <a:uFillTx/>
              <a:latin typeface="Arial"/>
            </a:endParaRPr>
          </a:p>
        </p:txBody>
      </p:sp>
      <p:sp>
        <p:nvSpPr>
          <p:cNvPr id="329" name="Shape 21"/>
          <p:cNvSpPr/>
          <p:nvPr/>
        </p:nvSpPr>
        <p:spPr>
          <a:xfrm>
            <a:off x="7772400" y="4681800"/>
            <a:ext cx="2971440" cy="310680"/>
          </a:xfrm>
          <a:prstGeom prst="roundRect">
            <a:avLst>
              <a:gd name="adj" fmla="val 17647"/>
            </a:avLst>
          </a:prstGeom>
          <a:solidFill>
            <a:srgbClr val="EAF4FF"/>
          </a:solidFill>
          <a:ln w="10160">
            <a:solidFill>
              <a:srgbClr val="0B4F9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0" name="Text 22"/>
          <p:cNvSpPr/>
          <p:nvPr/>
        </p:nvSpPr>
        <p:spPr>
          <a:xfrm>
            <a:off x="7863840" y="4754880"/>
            <a:ext cx="2788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0B4F9C"/>
                </a:solidFill>
                <a:effectLst/>
                <a:uFillTx/>
                <a:latin typeface="Arial"/>
              </a:rPr>
              <a:t>#__assets: tài nguyên/quyền</a:t>
            </a:r>
            <a:endParaRPr lang="en-US" sz="880" b="0" u="none" strike="noStrike">
              <a:solidFill>
                <a:srgbClr val="000000"/>
              </a:solidFill>
              <a:effectLst/>
              <a:uFillTx/>
              <a:latin typeface="Arial"/>
            </a:endParaRPr>
          </a:p>
        </p:txBody>
      </p:sp>
      <p:sp>
        <p:nvSpPr>
          <p:cNvPr id="331" name="Shape 23"/>
          <p:cNvSpPr/>
          <p:nvPr/>
        </p:nvSpPr>
        <p:spPr>
          <a:xfrm>
            <a:off x="1005840" y="5157360"/>
            <a:ext cx="2971440" cy="310680"/>
          </a:xfrm>
          <a:prstGeom prst="roundRect">
            <a:avLst>
              <a:gd name="adj" fmla="val 17647"/>
            </a:avLst>
          </a:prstGeom>
          <a:solidFill>
            <a:srgbClr val="F1FBF5"/>
          </a:solidFill>
          <a:ln w="10160">
            <a:solidFill>
              <a:srgbClr val="18A5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2" name="Text 24"/>
          <p:cNvSpPr/>
          <p:nvPr/>
        </p:nvSpPr>
        <p:spPr>
          <a:xfrm>
            <a:off x="1097280" y="5230440"/>
            <a:ext cx="2788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18A558"/>
                </a:solidFill>
                <a:effectLst/>
                <a:uFillTx/>
                <a:latin typeface="Arial"/>
              </a:rPr>
              <a:t>#__finder_*: chỉ mục Smart Search</a:t>
            </a:r>
            <a:endParaRPr lang="en-US" sz="880" b="0" u="none" strike="noStrike">
              <a:solidFill>
                <a:srgbClr val="000000"/>
              </a:solidFill>
              <a:effectLst/>
              <a:uFillTx/>
              <a:latin typeface="Arial"/>
            </a:endParaRPr>
          </a:p>
        </p:txBody>
      </p:sp>
      <p:sp>
        <p:nvSpPr>
          <p:cNvPr id="333" name="Shape 25"/>
          <p:cNvSpPr/>
          <p:nvPr/>
        </p:nvSpPr>
        <p:spPr>
          <a:xfrm>
            <a:off x="4389120" y="5157360"/>
            <a:ext cx="2971440" cy="310680"/>
          </a:xfrm>
          <a:prstGeom prst="roundRect">
            <a:avLst>
              <a:gd name="adj" fmla="val 17647"/>
            </a:avLst>
          </a:prstGeom>
          <a:solidFill>
            <a:srgbClr val="EAF4FF"/>
          </a:solidFill>
          <a:ln w="10160">
            <a:solidFill>
              <a:srgbClr val="0B4F9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4" name="Text 26"/>
          <p:cNvSpPr/>
          <p:nvPr/>
        </p:nvSpPr>
        <p:spPr>
          <a:xfrm>
            <a:off x="4480560" y="5230440"/>
            <a:ext cx="2788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0B4F9C"/>
                </a:solidFill>
                <a:effectLst/>
                <a:uFillTx/>
                <a:latin typeface="Arial"/>
              </a:rPr>
              <a:t>#__session: phiên đăng nhập</a:t>
            </a:r>
            <a:endParaRPr lang="en-US" sz="880" b="0" u="none" strike="noStrike">
              <a:solidFill>
                <a:srgbClr val="000000"/>
              </a:solidFill>
              <a:effectLst/>
              <a:uFillTx/>
              <a:latin typeface="Arial"/>
            </a:endParaRPr>
          </a:p>
        </p:txBody>
      </p:sp>
      <p:sp>
        <p:nvSpPr>
          <p:cNvPr id="335" name="Text 27"/>
          <p:cNvSpPr/>
          <p:nvPr/>
        </p:nvSpPr>
        <p:spPr>
          <a:xfrm>
            <a:off x="1005840" y="5806440"/>
            <a:ext cx="98751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64748B"/>
                </a:solidFill>
                <a:effectLst/>
                <a:uFillTx/>
                <a:latin typeface="Arial"/>
              </a:rPr>
              <a:t>Tên CSDL sử dụng trong đồ án: joomla_db · Host: localhost · User: root · Tiền tố bảng thống nhất theo cấu hình hiện tại.</a:t>
            </a:r>
            <a:endParaRPr lang="en-US" sz="1150" b="0" u="none" strike="noStrike">
              <a:solidFill>
                <a:srgbClr val="000000"/>
              </a:solidFill>
              <a:effectLst/>
              <a:uFillTx/>
              <a:latin typeface="Arial"/>
            </a:endParaRPr>
          </a:p>
        </p:txBody>
      </p:sp>
      <p:sp>
        <p:nvSpPr>
          <p:cNvPr id="336" name="Text 28"/>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337" name="PlaceHolder 1"/>
          <p:cNvSpPr>
            <a:spLocks noGrp="1"/>
          </p:cNvSpPr>
          <p:nvPr>
            <p:ph type="sldNum" idx="15"/>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46C78669-DB72-48AF-A4C2-64A0A1A06ECE}" type="slidenum">
              <a:rPr lang="en-US" sz="800" b="0" u="none" strike="noStrike">
                <a:solidFill>
                  <a:srgbClr val="8392A5"/>
                </a:solidFill>
                <a:effectLst/>
                <a:uFillTx/>
                <a:latin typeface="Arial"/>
                <a:ea typeface="Arial"/>
              </a:rPr>
              <a:t>11</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39589"/>
    </mc:Choice>
    <mc:Fallback xmlns="">
      <p:transition spd="slow" advTm="3958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338"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9"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SMART SEARCH</a:t>
            </a:r>
            <a:endParaRPr lang="en-US" sz="880" b="0" u="none" strike="noStrike">
              <a:solidFill>
                <a:srgbClr val="000000"/>
              </a:solidFill>
              <a:effectLst/>
              <a:uFillTx/>
              <a:latin typeface="Arial"/>
            </a:endParaRPr>
          </a:p>
        </p:txBody>
      </p:sp>
      <p:sp>
        <p:nvSpPr>
          <p:cNvPr id="340"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Quy trình tìm kiếm và lọc việc làm</a:t>
            </a:r>
            <a:endParaRPr lang="en-US" sz="2800" b="0" u="none" strike="noStrike">
              <a:solidFill>
                <a:srgbClr val="000000"/>
              </a:solidFill>
              <a:effectLst/>
              <a:uFillTx/>
              <a:latin typeface="Arial"/>
            </a:endParaRPr>
          </a:p>
        </p:txBody>
      </p:sp>
      <p:sp>
        <p:nvSpPr>
          <p:cNvPr id="341"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Smart Search lập chỉ mục nội dung rồi trả kết quả theo từ khóa/ngành</a:t>
            </a:r>
            <a:endParaRPr lang="en-US" sz="1050" b="0" u="none" strike="noStrike">
              <a:solidFill>
                <a:srgbClr val="000000"/>
              </a:solidFill>
              <a:effectLst/>
              <a:uFillTx/>
              <a:latin typeface="Arial"/>
            </a:endParaRPr>
          </a:p>
        </p:txBody>
      </p:sp>
      <p:sp>
        <p:nvSpPr>
          <p:cNvPr id="342"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3" name="Shape 5"/>
          <p:cNvSpPr/>
          <p:nvPr/>
        </p:nvSpPr>
        <p:spPr>
          <a:xfrm>
            <a:off x="2304000" y="3273480"/>
            <a:ext cx="658440" cy="360"/>
          </a:xfrm>
          <a:prstGeom prst="line">
            <a:avLst/>
          </a:prstGeom>
          <a:ln w="25400">
            <a:solidFill>
              <a:srgbClr val="18A55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4" name="Shape 6"/>
          <p:cNvSpPr/>
          <p:nvPr/>
        </p:nvSpPr>
        <p:spPr>
          <a:xfrm>
            <a:off x="4379760" y="3273480"/>
            <a:ext cx="658440" cy="360"/>
          </a:xfrm>
          <a:prstGeom prst="line">
            <a:avLst/>
          </a:prstGeom>
          <a:ln w="25400">
            <a:solidFill>
              <a:srgbClr val="18A55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5" name="Shape 7"/>
          <p:cNvSpPr/>
          <p:nvPr/>
        </p:nvSpPr>
        <p:spPr>
          <a:xfrm>
            <a:off x="6455520" y="3273480"/>
            <a:ext cx="658440" cy="360"/>
          </a:xfrm>
          <a:prstGeom prst="line">
            <a:avLst/>
          </a:prstGeom>
          <a:ln w="25400">
            <a:solidFill>
              <a:srgbClr val="18A55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6" name="Shape 8"/>
          <p:cNvSpPr/>
          <p:nvPr/>
        </p:nvSpPr>
        <p:spPr>
          <a:xfrm>
            <a:off x="8531280" y="3273480"/>
            <a:ext cx="658440" cy="360"/>
          </a:xfrm>
          <a:prstGeom prst="line">
            <a:avLst/>
          </a:prstGeom>
          <a:ln w="25400">
            <a:solidFill>
              <a:srgbClr val="18A55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7" name="Shape 9"/>
          <p:cNvSpPr/>
          <p:nvPr/>
        </p:nvSpPr>
        <p:spPr>
          <a:xfrm>
            <a:off x="1271160" y="2194560"/>
            <a:ext cx="502560" cy="502560"/>
          </a:xfrm>
          <a:prstGeom prst="ellipse">
            <a:avLst/>
          </a:prstGeom>
          <a:solidFill>
            <a:srgbClr val="0B4F9C"/>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8" name="Text 10"/>
          <p:cNvSpPr/>
          <p:nvPr/>
        </p:nvSpPr>
        <p:spPr>
          <a:xfrm>
            <a:off x="1271160" y="23590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1</a:t>
            </a:r>
            <a:endParaRPr lang="en-US" sz="1000" b="0" u="none" strike="noStrike">
              <a:solidFill>
                <a:srgbClr val="000000"/>
              </a:solidFill>
              <a:effectLst/>
              <a:uFillTx/>
              <a:latin typeface="Arial"/>
            </a:endParaRPr>
          </a:p>
        </p:txBody>
      </p:sp>
      <p:sp>
        <p:nvSpPr>
          <p:cNvPr id="349" name="Shape 11"/>
          <p:cNvSpPr/>
          <p:nvPr/>
        </p:nvSpPr>
        <p:spPr>
          <a:xfrm>
            <a:off x="685800" y="2788920"/>
            <a:ext cx="1663920" cy="959760"/>
          </a:xfrm>
          <a:prstGeom prst="roundRect">
            <a:avLst>
              <a:gd name="adj" fmla="val 7619"/>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0" name="Text 12"/>
          <p:cNvSpPr/>
          <p:nvPr/>
        </p:nvSpPr>
        <p:spPr>
          <a:xfrm>
            <a:off x="795600" y="2862000"/>
            <a:ext cx="14443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Nhập từ khóa</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VD: “nhân viên”</a:t>
            </a:r>
            <a:endParaRPr lang="en-US" sz="1320" b="0" u="none" strike="noStrike">
              <a:solidFill>
                <a:srgbClr val="000000"/>
              </a:solidFill>
              <a:effectLst/>
              <a:uFillTx/>
              <a:latin typeface="Arial"/>
            </a:endParaRPr>
          </a:p>
        </p:txBody>
      </p:sp>
      <p:sp>
        <p:nvSpPr>
          <p:cNvPr id="351" name="Shape 13"/>
          <p:cNvSpPr/>
          <p:nvPr/>
        </p:nvSpPr>
        <p:spPr>
          <a:xfrm>
            <a:off x="3346560" y="2194560"/>
            <a:ext cx="502560" cy="502560"/>
          </a:xfrm>
          <a:prstGeom prst="ellipse">
            <a:avLst/>
          </a:prstGeom>
          <a:solidFill>
            <a:srgbClr val="0B4F9C"/>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2" name="Text 14"/>
          <p:cNvSpPr/>
          <p:nvPr/>
        </p:nvSpPr>
        <p:spPr>
          <a:xfrm>
            <a:off x="3346560" y="23590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2</a:t>
            </a:r>
            <a:endParaRPr lang="en-US" sz="1000" b="0" u="none" strike="noStrike">
              <a:solidFill>
                <a:srgbClr val="000000"/>
              </a:solidFill>
              <a:effectLst/>
              <a:uFillTx/>
              <a:latin typeface="Arial"/>
            </a:endParaRPr>
          </a:p>
        </p:txBody>
      </p:sp>
      <p:sp>
        <p:nvSpPr>
          <p:cNvPr id="353" name="Shape 15"/>
          <p:cNvSpPr/>
          <p:nvPr/>
        </p:nvSpPr>
        <p:spPr>
          <a:xfrm>
            <a:off x="2761560" y="2788920"/>
            <a:ext cx="1663920" cy="959760"/>
          </a:xfrm>
          <a:prstGeom prst="roundRect">
            <a:avLst>
              <a:gd name="adj" fmla="val 7619"/>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4" name="Text 16"/>
          <p:cNvSpPr/>
          <p:nvPr/>
        </p:nvSpPr>
        <p:spPr>
          <a:xfrm>
            <a:off x="2871360" y="2862000"/>
            <a:ext cx="14443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Chọn ngành</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5 nhóm nghề</a:t>
            </a:r>
            <a:endParaRPr lang="en-US" sz="1320" b="0" u="none" strike="noStrike">
              <a:solidFill>
                <a:srgbClr val="000000"/>
              </a:solidFill>
              <a:effectLst/>
              <a:uFillTx/>
              <a:latin typeface="Arial"/>
            </a:endParaRPr>
          </a:p>
        </p:txBody>
      </p:sp>
      <p:sp>
        <p:nvSpPr>
          <p:cNvPr id="355" name="Shape 17"/>
          <p:cNvSpPr/>
          <p:nvPr/>
        </p:nvSpPr>
        <p:spPr>
          <a:xfrm>
            <a:off x="5422320" y="2194560"/>
            <a:ext cx="502560" cy="502560"/>
          </a:xfrm>
          <a:prstGeom prst="ellipse">
            <a:avLst/>
          </a:prstGeom>
          <a:solidFill>
            <a:srgbClr val="0B4F9C"/>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6" name="Text 18"/>
          <p:cNvSpPr/>
          <p:nvPr/>
        </p:nvSpPr>
        <p:spPr>
          <a:xfrm>
            <a:off x="5422320" y="23590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3</a:t>
            </a:r>
            <a:endParaRPr lang="en-US" sz="1000" b="0" u="none" strike="noStrike">
              <a:solidFill>
                <a:srgbClr val="000000"/>
              </a:solidFill>
              <a:effectLst/>
              <a:uFillTx/>
              <a:latin typeface="Arial"/>
            </a:endParaRPr>
          </a:p>
        </p:txBody>
      </p:sp>
      <p:sp>
        <p:nvSpPr>
          <p:cNvPr id="357" name="Shape 19"/>
          <p:cNvSpPr/>
          <p:nvPr/>
        </p:nvSpPr>
        <p:spPr>
          <a:xfrm>
            <a:off x="4837320" y="2788920"/>
            <a:ext cx="1663920" cy="959760"/>
          </a:xfrm>
          <a:prstGeom prst="roundRect">
            <a:avLst>
              <a:gd name="adj" fmla="val 7619"/>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8" name="Text 20"/>
          <p:cNvSpPr/>
          <p:nvPr/>
        </p:nvSpPr>
        <p:spPr>
          <a:xfrm>
            <a:off x="4946760" y="2862000"/>
            <a:ext cx="14443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Nhấn TÌM KIẾM</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trên giao diện</a:t>
            </a:r>
            <a:endParaRPr lang="en-US" sz="1320" b="0" u="none" strike="noStrike">
              <a:solidFill>
                <a:srgbClr val="000000"/>
              </a:solidFill>
              <a:effectLst/>
              <a:uFillTx/>
              <a:latin typeface="Arial"/>
            </a:endParaRPr>
          </a:p>
        </p:txBody>
      </p:sp>
      <p:sp>
        <p:nvSpPr>
          <p:cNvPr id="359" name="Shape 21"/>
          <p:cNvSpPr/>
          <p:nvPr/>
        </p:nvSpPr>
        <p:spPr>
          <a:xfrm>
            <a:off x="7498080" y="2194560"/>
            <a:ext cx="502560" cy="502560"/>
          </a:xfrm>
          <a:prstGeom prst="ellipse">
            <a:avLst/>
          </a:prstGeom>
          <a:solidFill>
            <a:srgbClr val="F58220"/>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0" name="Text 22"/>
          <p:cNvSpPr/>
          <p:nvPr/>
        </p:nvSpPr>
        <p:spPr>
          <a:xfrm>
            <a:off x="7498080" y="23590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4</a:t>
            </a:r>
            <a:endParaRPr lang="en-US" sz="1000" b="0" u="none" strike="noStrike">
              <a:solidFill>
                <a:srgbClr val="000000"/>
              </a:solidFill>
              <a:effectLst/>
              <a:uFillTx/>
              <a:latin typeface="Arial"/>
            </a:endParaRPr>
          </a:p>
        </p:txBody>
      </p:sp>
      <p:sp>
        <p:nvSpPr>
          <p:cNvPr id="361" name="Shape 23"/>
          <p:cNvSpPr/>
          <p:nvPr/>
        </p:nvSpPr>
        <p:spPr>
          <a:xfrm>
            <a:off x="6912720" y="2788920"/>
            <a:ext cx="1663920" cy="959760"/>
          </a:xfrm>
          <a:prstGeom prst="roundRect">
            <a:avLst>
              <a:gd name="adj" fmla="val 7619"/>
            </a:avLst>
          </a:prstGeom>
          <a:solidFill>
            <a:srgbClr val="FFF4E6"/>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2" name="Text 24"/>
          <p:cNvSpPr/>
          <p:nvPr/>
        </p:nvSpPr>
        <p:spPr>
          <a:xfrm>
            <a:off x="7022520" y="2862000"/>
            <a:ext cx="14443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F58220"/>
                </a:solidFill>
                <a:effectLst/>
                <a:uFillTx/>
                <a:latin typeface="Arial"/>
                <a:ea typeface="Arial"/>
              </a:rPr>
              <a:t>Smart Search</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F58220"/>
                </a:solidFill>
                <a:effectLst/>
                <a:uFillTx/>
                <a:latin typeface="Arial"/>
                <a:ea typeface="Arial"/>
              </a:rPr>
              <a:t>tìm trong index</a:t>
            </a:r>
            <a:endParaRPr lang="en-US" sz="1320" b="0" u="none" strike="noStrike">
              <a:solidFill>
                <a:srgbClr val="000000"/>
              </a:solidFill>
              <a:effectLst/>
              <a:uFillTx/>
              <a:latin typeface="Arial"/>
            </a:endParaRPr>
          </a:p>
        </p:txBody>
      </p:sp>
      <p:sp>
        <p:nvSpPr>
          <p:cNvPr id="363" name="Shape 25"/>
          <p:cNvSpPr/>
          <p:nvPr/>
        </p:nvSpPr>
        <p:spPr>
          <a:xfrm>
            <a:off x="9573840" y="2194560"/>
            <a:ext cx="502560" cy="502560"/>
          </a:xfrm>
          <a:prstGeom prst="ellipse">
            <a:avLst/>
          </a:prstGeom>
          <a:solidFill>
            <a:srgbClr val="0B4F9C"/>
          </a:solidFill>
          <a:ln w="1524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4" name="Text 26"/>
          <p:cNvSpPr/>
          <p:nvPr/>
        </p:nvSpPr>
        <p:spPr>
          <a:xfrm>
            <a:off x="9573840" y="2359080"/>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Arial"/>
              </a:rPr>
              <a:t>5</a:t>
            </a:r>
            <a:endParaRPr lang="en-US" sz="1000" b="0" u="none" strike="noStrike">
              <a:solidFill>
                <a:srgbClr val="000000"/>
              </a:solidFill>
              <a:effectLst/>
              <a:uFillTx/>
              <a:latin typeface="Arial"/>
            </a:endParaRPr>
          </a:p>
        </p:txBody>
      </p:sp>
      <p:sp>
        <p:nvSpPr>
          <p:cNvPr id="365" name="Shape 27"/>
          <p:cNvSpPr/>
          <p:nvPr/>
        </p:nvSpPr>
        <p:spPr>
          <a:xfrm>
            <a:off x="8988480" y="2788920"/>
            <a:ext cx="1663920" cy="959760"/>
          </a:xfrm>
          <a:prstGeom prst="roundRect">
            <a:avLst>
              <a:gd name="adj" fmla="val 7619"/>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6" name="Text 28"/>
          <p:cNvSpPr/>
          <p:nvPr/>
        </p:nvSpPr>
        <p:spPr>
          <a:xfrm>
            <a:off x="9098280" y="2862000"/>
            <a:ext cx="14443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Xem kết quả</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hoặc chi tiết bài</a:t>
            </a:r>
            <a:endParaRPr lang="en-US" sz="1320" b="0" u="none" strike="noStrike">
              <a:solidFill>
                <a:srgbClr val="000000"/>
              </a:solidFill>
              <a:effectLst/>
              <a:uFillTx/>
              <a:latin typeface="Arial"/>
            </a:endParaRPr>
          </a:p>
        </p:txBody>
      </p:sp>
      <p:sp>
        <p:nvSpPr>
          <p:cNvPr id="367" name="Shape 29"/>
          <p:cNvSpPr/>
          <p:nvPr/>
        </p:nvSpPr>
        <p:spPr>
          <a:xfrm>
            <a:off x="1188720" y="4663440"/>
            <a:ext cx="9692280" cy="822600"/>
          </a:xfrm>
          <a:prstGeom prst="roundRect">
            <a:avLst>
              <a:gd name="adj" fmla="val 6667"/>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8" name="Text 30"/>
          <p:cNvSpPr/>
          <p:nvPr/>
        </p:nvSpPr>
        <p:spPr>
          <a:xfrm>
            <a:off x="1508760" y="4873680"/>
            <a:ext cx="905220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algn="ctr" defTabSz="914400">
              <a:lnSpc>
                <a:spcPct val="100000"/>
              </a:lnSpc>
              <a:tabLst>
                <a:tab pos="0" algn="l"/>
              </a:tabLst>
            </a:pPr>
            <a:r>
              <a:rPr lang="en-US" sz="1350" b="0" u="none" strike="noStrike">
                <a:solidFill>
                  <a:srgbClr val="1F2937"/>
                </a:solidFill>
                <a:effectLst/>
                <a:uFillTx/>
                <a:latin typeface="Arial"/>
              </a:rPr>
              <a:t>Ví dụ kiểm thử: từ khóa “nhân viên” kết hợp ngành nghề phù hợp → hệ thống trả các bài việc làm có nội dung liên quan; nếu không có kết quả thì hiển thị thông báo không tìm thấy.</a:t>
            </a:r>
            <a:endParaRPr lang="en-US" sz="1350" b="0" u="none" strike="noStrike">
              <a:solidFill>
                <a:srgbClr val="000000"/>
              </a:solidFill>
              <a:effectLst/>
              <a:uFillTx/>
              <a:latin typeface="Arial"/>
            </a:endParaRPr>
          </a:p>
        </p:txBody>
      </p:sp>
      <p:sp>
        <p:nvSpPr>
          <p:cNvPr id="369" name="Text 31"/>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370" name="PlaceHolder 1"/>
          <p:cNvSpPr>
            <a:spLocks noGrp="1"/>
          </p:cNvSpPr>
          <p:nvPr>
            <p:ph type="sldNum" idx="16"/>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82BE4468-B342-478C-B842-1F3ADE6F74B1}" type="slidenum">
              <a:rPr lang="en-US" sz="800" b="0" u="none" strike="noStrike">
                <a:solidFill>
                  <a:srgbClr val="8392A5"/>
                </a:solidFill>
                <a:effectLst/>
                <a:uFillTx/>
                <a:latin typeface="Arial"/>
                <a:ea typeface="Arial"/>
              </a:rPr>
              <a:t>12</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52902"/>
    </mc:Choice>
    <mc:Fallback xmlns="">
      <p:transition spd="slow" advTm="5290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371"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2"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GIAO DIỆN</a:t>
            </a:r>
            <a:endParaRPr lang="en-US" sz="880" b="0" u="none" strike="noStrike">
              <a:solidFill>
                <a:srgbClr val="000000"/>
              </a:solidFill>
              <a:effectLst/>
              <a:uFillTx/>
              <a:latin typeface="Arial"/>
            </a:endParaRPr>
          </a:p>
        </p:txBody>
      </p:sp>
      <p:sp>
        <p:nvSpPr>
          <p:cNvPr id="373"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Kết quả giao diện trang chủ</a:t>
            </a:r>
            <a:endParaRPr lang="en-US" sz="2800" b="0" u="none" strike="noStrike">
              <a:solidFill>
                <a:srgbClr val="000000"/>
              </a:solidFill>
              <a:effectLst/>
              <a:uFillTx/>
              <a:latin typeface="Arial"/>
            </a:endParaRPr>
          </a:p>
        </p:txBody>
      </p:sp>
      <p:sp>
        <p:nvSpPr>
          <p:cNvPr id="374"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Màu chủ đạo xanh – xanh lá – cam, phù hợp chủ đề việc làm và định hướng nghề nghiệp</a:t>
            </a:r>
            <a:endParaRPr lang="en-US" sz="1050" b="0" u="none" strike="noStrike">
              <a:solidFill>
                <a:srgbClr val="000000"/>
              </a:solidFill>
              <a:effectLst/>
              <a:uFillTx/>
              <a:latin typeface="Arial"/>
            </a:endParaRPr>
          </a:p>
        </p:txBody>
      </p:sp>
      <p:sp>
        <p:nvSpPr>
          <p:cNvPr id="375"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376" name="Image 0" descr="/mnt/data/home_top_crop.png"/>
          <p:cNvPicPr/>
          <p:nvPr/>
        </p:nvPicPr>
        <p:blipFill>
          <a:blip r:embed="rId3"/>
          <a:stretch/>
        </p:blipFill>
        <p:spPr>
          <a:xfrm>
            <a:off x="640080" y="1539360"/>
            <a:ext cx="6720480" cy="3467880"/>
          </a:xfrm>
          <a:prstGeom prst="rect">
            <a:avLst/>
          </a:prstGeom>
          <a:noFill/>
          <a:ln w="0">
            <a:noFill/>
          </a:ln>
        </p:spPr>
      </p:pic>
      <p:sp>
        <p:nvSpPr>
          <p:cNvPr id="377" name="Shape 5"/>
          <p:cNvSpPr/>
          <p:nvPr/>
        </p:nvSpPr>
        <p:spPr>
          <a:xfrm>
            <a:off x="7726680" y="1481400"/>
            <a:ext cx="3611520" cy="3474360"/>
          </a:xfrm>
          <a:prstGeom prst="roundRect">
            <a:avLst>
              <a:gd name="adj" fmla="val 16667"/>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8" name="Text 6"/>
          <p:cNvSpPr/>
          <p:nvPr/>
        </p:nvSpPr>
        <p:spPr>
          <a:xfrm>
            <a:off x="8028360" y="1774080"/>
            <a:ext cx="30171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0B2E59"/>
                </a:solidFill>
                <a:effectLst/>
                <a:uFillTx/>
                <a:latin typeface="Arial"/>
              </a:rPr>
              <a:t>Điểm nổi bật</a:t>
            </a:r>
            <a:endParaRPr lang="en-US" sz="1900" b="0" u="none" strike="noStrike">
              <a:solidFill>
                <a:srgbClr val="000000"/>
              </a:solidFill>
              <a:effectLst/>
              <a:uFillTx/>
              <a:latin typeface="Arial"/>
            </a:endParaRPr>
          </a:p>
        </p:txBody>
      </p:sp>
      <p:sp>
        <p:nvSpPr>
          <p:cNvPr id="379" name="Shape 7"/>
          <p:cNvSpPr/>
          <p:nvPr/>
        </p:nvSpPr>
        <p:spPr>
          <a:xfrm>
            <a:off x="8028360" y="237744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80" name="Text 8"/>
          <p:cNvSpPr/>
          <p:nvPr/>
        </p:nvSpPr>
        <p:spPr>
          <a:xfrm>
            <a:off x="8229600" y="2331720"/>
            <a:ext cx="29257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a:bodyPr>
          <a:lstStyle/>
          <a:p>
            <a:pPr defTabSz="914400">
              <a:lnSpc>
                <a:spcPct val="100000"/>
              </a:lnSpc>
              <a:tabLst>
                <a:tab pos="0" algn="l"/>
              </a:tabLst>
            </a:pPr>
            <a:r>
              <a:rPr lang="en-US" sz="1270" b="0" u="none" strike="noStrike">
                <a:solidFill>
                  <a:srgbClr val="1F2937"/>
                </a:solidFill>
                <a:effectLst/>
                <a:uFillTx/>
                <a:latin typeface="Arial"/>
                <a:ea typeface="Arial"/>
              </a:rPr>
              <a:t>Menu chính rõ ràng, mục “Việc làm” nổi bật</a:t>
            </a:r>
            <a:endParaRPr lang="en-US" sz="1270" b="0" u="none" strike="noStrike">
              <a:solidFill>
                <a:srgbClr val="000000"/>
              </a:solidFill>
              <a:effectLst/>
              <a:uFillTx/>
              <a:latin typeface="Arial"/>
            </a:endParaRPr>
          </a:p>
        </p:txBody>
      </p:sp>
      <p:sp>
        <p:nvSpPr>
          <p:cNvPr id="381" name="Shape 9"/>
          <p:cNvSpPr/>
          <p:nvPr/>
        </p:nvSpPr>
        <p:spPr>
          <a:xfrm>
            <a:off x="8028360" y="292608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82" name="Text 10"/>
          <p:cNvSpPr/>
          <p:nvPr/>
        </p:nvSpPr>
        <p:spPr>
          <a:xfrm>
            <a:off x="8229600" y="2880360"/>
            <a:ext cx="29257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270" b="0" u="none" strike="noStrike">
                <a:solidFill>
                  <a:srgbClr val="1F2937"/>
                </a:solidFill>
                <a:effectLst/>
                <a:uFillTx/>
                <a:latin typeface="Arial"/>
                <a:ea typeface="Arial"/>
              </a:rPr>
              <a:t>Banner truyền tải thông điệp kết nối NLĐ – NTD</a:t>
            </a:r>
            <a:endParaRPr lang="en-US" sz="1270" b="0" u="none" strike="noStrike">
              <a:solidFill>
                <a:srgbClr val="000000"/>
              </a:solidFill>
              <a:effectLst/>
              <a:uFillTx/>
              <a:latin typeface="Arial"/>
            </a:endParaRPr>
          </a:p>
        </p:txBody>
      </p:sp>
      <p:sp>
        <p:nvSpPr>
          <p:cNvPr id="383" name="Shape 11"/>
          <p:cNvSpPr/>
          <p:nvPr/>
        </p:nvSpPr>
        <p:spPr>
          <a:xfrm>
            <a:off x="8028360" y="347472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84" name="Text 12"/>
          <p:cNvSpPr/>
          <p:nvPr/>
        </p:nvSpPr>
        <p:spPr>
          <a:xfrm>
            <a:off x="8229600" y="3429000"/>
            <a:ext cx="29257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270" b="0" u="none" strike="noStrike">
                <a:solidFill>
                  <a:srgbClr val="1F2937"/>
                </a:solidFill>
                <a:effectLst/>
                <a:uFillTx/>
                <a:latin typeface="Arial"/>
                <a:ea typeface="Arial"/>
              </a:rPr>
              <a:t>Thanh tìm kiếm gồm từ khóa, địa điểm, ngành nghề</a:t>
            </a:r>
            <a:endParaRPr lang="en-US" sz="1270" b="0" u="none" strike="noStrike">
              <a:solidFill>
                <a:srgbClr val="000000"/>
              </a:solidFill>
              <a:effectLst/>
              <a:uFillTx/>
              <a:latin typeface="Arial"/>
            </a:endParaRPr>
          </a:p>
        </p:txBody>
      </p:sp>
      <p:sp>
        <p:nvSpPr>
          <p:cNvPr id="385" name="Shape 13"/>
          <p:cNvSpPr/>
          <p:nvPr/>
        </p:nvSpPr>
        <p:spPr>
          <a:xfrm>
            <a:off x="8028360" y="402336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86" name="Text 14"/>
          <p:cNvSpPr/>
          <p:nvPr/>
        </p:nvSpPr>
        <p:spPr>
          <a:xfrm>
            <a:off x="8229600" y="3977640"/>
            <a:ext cx="29257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270" b="0" u="none" strike="noStrike">
                <a:solidFill>
                  <a:srgbClr val="1F2937"/>
                </a:solidFill>
                <a:effectLst/>
                <a:uFillTx/>
                <a:latin typeface="Arial"/>
                <a:ea typeface="Arial"/>
              </a:rPr>
              <a:t>Khối việc làm nổi bật và danh mục ngành nghề</a:t>
            </a:r>
            <a:endParaRPr lang="en-US" sz="1270" b="0" u="none" strike="noStrike">
              <a:solidFill>
                <a:srgbClr val="000000"/>
              </a:solidFill>
              <a:effectLst/>
              <a:uFillTx/>
              <a:latin typeface="Arial"/>
            </a:endParaRPr>
          </a:p>
        </p:txBody>
      </p:sp>
      <p:sp>
        <p:nvSpPr>
          <p:cNvPr id="387" name="Text 15"/>
          <p:cNvSpPr/>
          <p:nvPr/>
        </p:nvSpPr>
        <p:spPr>
          <a:xfrm>
            <a:off x="713160" y="5358240"/>
            <a:ext cx="65833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64748B"/>
                </a:solidFill>
                <a:effectLst/>
                <a:uFillTx/>
                <a:latin typeface="Arial"/>
              </a:rPr>
              <a:t>Hình: giao diện website tại http://localhost/joomla/</a:t>
            </a:r>
            <a:endParaRPr lang="en-US" sz="900" b="0" u="none" strike="noStrike">
              <a:solidFill>
                <a:srgbClr val="000000"/>
              </a:solidFill>
              <a:effectLst/>
              <a:uFillTx/>
              <a:latin typeface="Arial"/>
            </a:endParaRPr>
          </a:p>
        </p:txBody>
      </p:sp>
      <p:sp>
        <p:nvSpPr>
          <p:cNvPr id="388" name="Text 16"/>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389" name="PlaceHolder 1"/>
          <p:cNvSpPr>
            <a:spLocks noGrp="1"/>
          </p:cNvSpPr>
          <p:nvPr>
            <p:ph type="sldNum" idx="17"/>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2335FBCF-A098-458B-BD59-6161D1E3E1AA}" type="slidenum">
              <a:rPr lang="en-US" sz="800" b="0" u="none" strike="noStrike">
                <a:solidFill>
                  <a:srgbClr val="8392A5"/>
                </a:solidFill>
                <a:effectLst/>
                <a:uFillTx/>
                <a:latin typeface="Arial"/>
                <a:ea typeface="Arial"/>
              </a:rPr>
              <a:t>13</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45803"/>
    </mc:Choice>
    <mc:Fallback xmlns="">
      <p:transition spd="slow" advTm="4580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390"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1"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TRIỂN KHAI</a:t>
            </a:r>
            <a:endParaRPr lang="en-US" sz="880" b="0" u="none" strike="noStrike">
              <a:solidFill>
                <a:srgbClr val="000000"/>
              </a:solidFill>
              <a:effectLst/>
              <a:uFillTx/>
              <a:latin typeface="Arial"/>
            </a:endParaRPr>
          </a:p>
        </p:txBody>
      </p:sp>
      <p:sp>
        <p:nvSpPr>
          <p:cNvPr id="392"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Cài đặt, sao lưu và quản lý phiên bản</a:t>
            </a:r>
            <a:endParaRPr lang="en-US" sz="2800" b="0" u="none" strike="noStrike">
              <a:solidFill>
                <a:srgbClr val="000000"/>
              </a:solidFill>
              <a:effectLst/>
              <a:uFillTx/>
              <a:latin typeface="Arial"/>
            </a:endParaRPr>
          </a:p>
        </p:txBody>
      </p:sp>
      <p:sp>
        <p:nvSpPr>
          <p:cNvPr id="393"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Quy trình giúp hệ thống có thể chạy lại và kiểm chứng trên máy local</a:t>
            </a:r>
            <a:endParaRPr lang="en-US" sz="1050" b="0" u="none" strike="noStrike">
              <a:solidFill>
                <a:srgbClr val="000000"/>
              </a:solidFill>
              <a:effectLst/>
              <a:uFillTx/>
              <a:latin typeface="Arial"/>
            </a:endParaRPr>
          </a:p>
        </p:txBody>
      </p:sp>
      <p:sp>
        <p:nvSpPr>
          <p:cNvPr id="394"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5" name="Shape 5"/>
          <p:cNvSpPr/>
          <p:nvPr/>
        </p:nvSpPr>
        <p:spPr>
          <a:xfrm>
            <a:off x="2148840" y="3063240"/>
            <a:ext cx="4388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6" name="Shape 6"/>
          <p:cNvSpPr/>
          <p:nvPr/>
        </p:nvSpPr>
        <p:spPr>
          <a:xfrm>
            <a:off x="3931920" y="3063240"/>
            <a:ext cx="4388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7" name="Shape 7"/>
          <p:cNvSpPr/>
          <p:nvPr/>
        </p:nvSpPr>
        <p:spPr>
          <a:xfrm>
            <a:off x="5715000" y="3063240"/>
            <a:ext cx="4388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8" name="Shape 8"/>
          <p:cNvSpPr/>
          <p:nvPr/>
        </p:nvSpPr>
        <p:spPr>
          <a:xfrm>
            <a:off x="7498080" y="3063240"/>
            <a:ext cx="4388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9" name="Shape 9"/>
          <p:cNvSpPr/>
          <p:nvPr/>
        </p:nvSpPr>
        <p:spPr>
          <a:xfrm>
            <a:off x="9281160" y="3063240"/>
            <a:ext cx="438840" cy="360"/>
          </a:xfrm>
          <a:prstGeom prst="line">
            <a:avLst/>
          </a:prstGeom>
          <a:ln w="25400">
            <a:solidFill>
              <a:srgbClr val="C7D7EC"/>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00" name="Shape 10"/>
          <p:cNvSpPr/>
          <p:nvPr/>
        </p:nvSpPr>
        <p:spPr>
          <a:xfrm>
            <a:off x="1124640" y="2011680"/>
            <a:ext cx="411120" cy="411120"/>
          </a:xfrm>
          <a:prstGeom prst="ellipse">
            <a:avLst/>
          </a:prstGeom>
          <a:solidFill>
            <a:srgbClr val="0B4F9C"/>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1" name="Text 11"/>
          <p:cNvSpPr/>
          <p:nvPr/>
        </p:nvSpPr>
        <p:spPr>
          <a:xfrm>
            <a:off x="1124640" y="2139840"/>
            <a:ext cx="4111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FFFFFF"/>
                </a:solidFill>
                <a:effectLst/>
                <a:uFillTx/>
                <a:latin typeface="Arial"/>
              </a:rPr>
              <a:t>1</a:t>
            </a:r>
            <a:endParaRPr lang="en-US" sz="880" b="0" u="none" strike="noStrike">
              <a:solidFill>
                <a:srgbClr val="000000"/>
              </a:solidFill>
              <a:effectLst/>
              <a:uFillTx/>
              <a:latin typeface="Arial"/>
            </a:endParaRPr>
          </a:p>
        </p:txBody>
      </p:sp>
      <p:sp>
        <p:nvSpPr>
          <p:cNvPr id="402" name="Shape 12"/>
          <p:cNvSpPr/>
          <p:nvPr/>
        </p:nvSpPr>
        <p:spPr>
          <a:xfrm>
            <a:off x="621720" y="2697480"/>
            <a:ext cx="1325520" cy="959760"/>
          </a:xfrm>
          <a:prstGeom prst="roundRect">
            <a:avLst>
              <a:gd name="adj" fmla="val 7619"/>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3" name="Text 13"/>
          <p:cNvSpPr/>
          <p:nvPr/>
        </p:nvSpPr>
        <p:spPr>
          <a:xfrm>
            <a:off x="731520" y="2770560"/>
            <a:ext cx="11059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Start Apache</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&amp; MySQL</a:t>
            </a:r>
            <a:endParaRPr lang="en-US" sz="1320" b="0" u="none" strike="noStrike">
              <a:solidFill>
                <a:srgbClr val="000000"/>
              </a:solidFill>
              <a:effectLst/>
              <a:uFillTx/>
              <a:latin typeface="Arial"/>
            </a:endParaRPr>
          </a:p>
        </p:txBody>
      </p:sp>
      <p:sp>
        <p:nvSpPr>
          <p:cNvPr id="404" name="Shape 14"/>
          <p:cNvSpPr/>
          <p:nvPr/>
        </p:nvSpPr>
        <p:spPr>
          <a:xfrm>
            <a:off x="2907720" y="2011680"/>
            <a:ext cx="411120" cy="411120"/>
          </a:xfrm>
          <a:prstGeom prst="ellipse">
            <a:avLst/>
          </a:prstGeom>
          <a:solidFill>
            <a:srgbClr val="0B4F9C"/>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5" name="Text 15"/>
          <p:cNvSpPr/>
          <p:nvPr/>
        </p:nvSpPr>
        <p:spPr>
          <a:xfrm>
            <a:off x="2907720" y="2139840"/>
            <a:ext cx="4111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FFFFFF"/>
                </a:solidFill>
                <a:effectLst/>
                <a:uFillTx/>
                <a:latin typeface="Arial"/>
              </a:rPr>
              <a:t>2</a:t>
            </a:r>
            <a:endParaRPr lang="en-US" sz="880" b="0" u="none" strike="noStrike">
              <a:solidFill>
                <a:srgbClr val="000000"/>
              </a:solidFill>
              <a:effectLst/>
              <a:uFillTx/>
              <a:latin typeface="Arial"/>
            </a:endParaRPr>
          </a:p>
        </p:txBody>
      </p:sp>
      <p:sp>
        <p:nvSpPr>
          <p:cNvPr id="406" name="Shape 16"/>
          <p:cNvSpPr/>
          <p:nvPr/>
        </p:nvSpPr>
        <p:spPr>
          <a:xfrm>
            <a:off x="2404800" y="2697480"/>
            <a:ext cx="1325520" cy="959760"/>
          </a:xfrm>
          <a:prstGeom prst="roundRect">
            <a:avLst>
              <a:gd name="adj" fmla="val 7619"/>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7" name="Text 17"/>
          <p:cNvSpPr/>
          <p:nvPr/>
        </p:nvSpPr>
        <p:spPr>
          <a:xfrm>
            <a:off x="2514600" y="2770560"/>
            <a:ext cx="11059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Tạo CSDL</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joomla_db</a:t>
            </a:r>
            <a:endParaRPr lang="en-US" sz="1320" b="0" u="none" strike="noStrike">
              <a:solidFill>
                <a:srgbClr val="000000"/>
              </a:solidFill>
              <a:effectLst/>
              <a:uFillTx/>
              <a:latin typeface="Arial"/>
            </a:endParaRPr>
          </a:p>
        </p:txBody>
      </p:sp>
      <p:sp>
        <p:nvSpPr>
          <p:cNvPr id="408" name="Shape 18"/>
          <p:cNvSpPr/>
          <p:nvPr/>
        </p:nvSpPr>
        <p:spPr>
          <a:xfrm>
            <a:off x="4690800" y="2011680"/>
            <a:ext cx="411120" cy="411120"/>
          </a:xfrm>
          <a:prstGeom prst="ellipse">
            <a:avLst/>
          </a:prstGeom>
          <a:solidFill>
            <a:srgbClr val="0B4F9C"/>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9" name="Text 19"/>
          <p:cNvSpPr/>
          <p:nvPr/>
        </p:nvSpPr>
        <p:spPr>
          <a:xfrm>
            <a:off x="4690800" y="2139840"/>
            <a:ext cx="4111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FFFFFF"/>
                </a:solidFill>
                <a:effectLst/>
                <a:uFillTx/>
                <a:latin typeface="Arial"/>
              </a:rPr>
              <a:t>3</a:t>
            </a:r>
            <a:endParaRPr lang="en-US" sz="880" b="0" u="none" strike="noStrike">
              <a:solidFill>
                <a:srgbClr val="000000"/>
              </a:solidFill>
              <a:effectLst/>
              <a:uFillTx/>
              <a:latin typeface="Arial"/>
            </a:endParaRPr>
          </a:p>
        </p:txBody>
      </p:sp>
      <p:sp>
        <p:nvSpPr>
          <p:cNvPr id="410" name="Shape 20"/>
          <p:cNvSpPr/>
          <p:nvPr/>
        </p:nvSpPr>
        <p:spPr>
          <a:xfrm>
            <a:off x="4187880" y="2697480"/>
            <a:ext cx="1325520" cy="959760"/>
          </a:xfrm>
          <a:prstGeom prst="roundRect">
            <a:avLst>
              <a:gd name="adj" fmla="val 7619"/>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1" name="Text 21"/>
          <p:cNvSpPr/>
          <p:nvPr/>
        </p:nvSpPr>
        <p:spPr>
          <a:xfrm>
            <a:off x="4297680" y="2770560"/>
            <a:ext cx="11059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Copy mã nguồn</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htdocs/joomla</a:t>
            </a:r>
            <a:endParaRPr lang="en-US" sz="1320" b="0" u="none" strike="noStrike">
              <a:solidFill>
                <a:srgbClr val="000000"/>
              </a:solidFill>
              <a:effectLst/>
              <a:uFillTx/>
              <a:latin typeface="Arial"/>
            </a:endParaRPr>
          </a:p>
        </p:txBody>
      </p:sp>
      <p:sp>
        <p:nvSpPr>
          <p:cNvPr id="412" name="Shape 22"/>
          <p:cNvSpPr/>
          <p:nvPr/>
        </p:nvSpPr>
        <p:spPr>
          <a:xfrm>
            <a:off x="6473880" y="2011680"/>
            <a:ext cx="411120" cy="411120"/>
          </a:xfrm>
          <a:prstGeom prst="ellipse">
            <a:avLst/>
          </a:prstGeom>
          <a:solidFill>
            <a:srgbClr val="0B4F9C"/>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3" name="Text 23"/>
          <p:cNvSpPr/>
          <p:nvPr/>
        </p:nvSpPr>
        <p:spPr>
          <a:xfrm>
            <a:off x="6473880" y="2139840"/>
            <a:ext cx="4111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FFFFFF"/>
                </a:solidFill>
                <a:effectLst/>
                <a:uFillTx/>
                <a:latin typeface="Arial"/>
              </a:rPr>
              <a:t>4</a:t>
            </a:r>
            <a:endParaRPr lang="en-US" sz="880" b="0" u="none" strike="noStrike">
              <a:solidFill>
                <a:srgbClr val="000000"/>
              </a:solidFill>
              <a:effectLst/>
              <a:uFillTx/>
              <a:latin typeface="Arial"/>
            </a:endParaRPr>
          </a:p>
        </p:txBody>
      </p:sp>
      <p:sp>
        <p:nvSpPr>
          <p:cNvPr id="414" name="Shape 24"/>
          <p:cNvSpPr/>
          <p:nvPr/>
        </p:nvSpPr>
        <p:spPr>
          <a:xfrm>
            <a:off x="5970960" y="2697480"/>
            <a:ext cx="1325520" cy="959760"/>
          </a:xfrm>
          <a:prstGeom prst="roundRect">
            <a:avLst>
              <a:gd name="adj" fmla="val 7619"/>
            </a:avLst>
          </a:prstGeom>
          <a:solidFill>
            <a:srgbClr val="FFFFFF"/>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5" name="Text 25"/>
          <p:cNvSpPr/>
          <p:nvPr/>
        </p:nvSpPr>
        <p:spPr>
          <a:xfrm>
            <a:off x="6080760" y="2770560"/>
            <a:ext cx="11059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F2937"/>
                </a:solidFill>
                <a:effectLst/>
                <a:uFillTx/>
                <a:latin typeface="Arial"/>
                <a:ea typeface="Arial"/>
              </a:rPr>
              <a:t>Cấu hình Joomla</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F2937"/>
                </a:solidFill>
                <a:effectLst/>
                <a:uFillTx/>
                <a:latin typeface="Arial"/>
                <a:ea typeface="Arial"/>
              </a:rPr>
              <a:t>&amp; template</a:t>
            </a:r>
            <a:endParaRPr lang="en-US" sz="1320" b="0" u="none" strike="noStrike">
              <a:solidFill>
                <a:srgbClr val="000000"/>
              </a:solidFill>
              <a:effectLst/>
              <a:uFillTx/>
              <a:latin typeface="Arial"/>
            </a:endParaRPr>
          </a:p>
        </p:txBody>
      </p:sp>
      <p:sp>
        <p:nvSpPr>
          <p:cNvPr id="416" name="Shape 26"/>
          <p:cNvSpPr/>
          <p:nvPr/>
        </p:nvSpPr>
        <p:spPr>
          <a:xfrm>
            <a:off x="8256960" y="2011680"/>
            <a:ext cx="411120" cy="411120"/>
          </a:xfrm>
          <a:prstGeom prst="ellipse">
            <a:avLst/>
          </a:prstGeom>
          <a:solidFill>
            <a:srgbClr val="18A558"/>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7" name="Text 27"/>
          <p:cNvSpPr/>
          <p:nvPr/>
        </p:nvSpPr>
        <p:spPr>
          <a:xfrm>
            <a:off x="8256960" y="2139840"/>
            <a:ext cx="4111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FFFFFF"/>
                </a:solidFill>
                <a:effectLst/>
                <a:uFillTx/>
                <a:latin typeface="Arial"/>
              </a:rPr>
              <a:t>5</a:t>
            </a:r>
            <a:endParaRPr lang="en-US" sz="880" b="0" u="none" strike="noStrike">
              <a:solidFill>
                <a:srgbClr val="000000"/>
              </a:solidFill>
              <a:effectLst/>
              <a:uFillTx/>
              <a:latin typeface="Arial"/>
            </a:endParaRPr>
          </a:p>
        </p:txBody>
      </p:sp>
      <p:sp>
        <p:nvSpPr>
          <p:cNvPr id="418" name="Shape 28"/>
          <p:cNvSpPr/>
          <p:nvPr/>
        </p:nvSpPr>
        <p:spPr>
          <a:xfrm>
            <a:off x="7754040" y="2697480"/>
            <a:ext cx="1325520" cy="959760"/>
          </a:xfrm>
          <a:prstGeom prst="roundRect">
            <a:avLst>
              <a:gd name="adj" fmla="val 7619"/>
            </a:avLst>
          </a:prstGeom>
          <a:solidFill>
            <a:srgbClr val="F1FBF5"/>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9" name="Text 29"/>
          <p:cNvSpPr/>
          <p:nvPr/>
        </p:nvSpPr>
        <p:spPr>
          <a:xfrm>
            <a:off x="7863840" y="2770560"/>
            <a:ext cx="11059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8A558"/>
                </a:solidFill>
                <a:effectLst/>
                <a:uFillTx/>
                <a:latin typeface="Arial"/>
                <a:ea typeface="Arial"/>
              </a:rPr>
              <a:t>Export SQL</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8A558"/>
                </a:solidFill>
                <a:effectLst/>
                <a:uFillTx/>
                <a:latin typeface="Arial"/>
                <a:ea typeface="Arial"/>
              </a:rPr>
              <a:t>+ backup folder</a:t>
            </a:r>
            <a:endParaRPr lang="en-US" sz="1320" b="0" u="none" strike="noStrike">
              <a:solidFill>
                <a:srgbClr val="000000"/>
              </a:solidFill>
              <a:effectLst/>
              <a:uFillTx/>
              <a:latin typeface="Arial"/>
            </a:endParaRPr>
          </a:p>
        </p:txBody>
      </p:sp>
      <p:sp>
        <p:nvSpPr>
          <p:cNvPr id="420" name="Shape 30"/>
          <p:cNvSpPr/>
          <p:nvPr/>
        </p:nvSpPr>
        <p:spPr>
          <a:xfrm>
            <a:off x="10040040" y="2011680"/>
            <a:ext cx="411120" cy="411120"/>
          </a:xfrm>
          <a:prstGeom prst="ellipse">
            <a:avLst/>
          </a:prstGeom>
          <a:solidFill>
            <a:srgbClr val="18A558"/>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1" name="Text 31"/>
          <p:cNvSpPr/>
          <p:nvPr/>
        </p:nvSpPr>
        <p:spPr>
          <a:xfrm>
            <a:off x="10040040" y="2139840"/>
            <a:ext cx="4111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80" b="1" u="none" strike="noStrike">
                <a:solidFill>
                  <a:srgbClr val="FFFFFF"/>
                </a:solidFill>
                <a:effectLst/>
                <a:uFillTx/>
                <a:latin typeface="Arial"/>
              </a:rPr>
              <a:t>6</a:t>
            </a:r>
            <a:endParaRPr lang="en-US" sz="880" b="0" u="none" strike="noStrike">
              <a:solidFill>
                <a:srgbClr val="000000"/>
              </a:solidFill>
              <a:effectLst/>
              <a:uFillTx/>
              <a:latin typeface="Arial"/>
            </a:endParaRPr>
          </a:p>
        </p:txBody>
      </p:sp>
      <p:sp>
        <p:nvSpPr>
          <p:cNvPr id="422" name="Shape 32"/>
          <p:cNvSpPr/>
          <p:nvPr/>
        </p:nvSpPr>
        <p:spPr>
          <a:xfrm>
            <a:off x="9537120" y="2697480"/>
            <a:ext cx="1325520" cy="959760"/>
          </a:xfrm>
          <a:prstGeom prst="roundRect">
            <a:avLst>
              <a:gd name="adj" fmla="val 7619"/>
            </a:avLst>
          </a:prstGeom>
          <a:solidFill>
            <a:srgbClr val="F1FBF5"/>
          </a:solidFill>
          <a:ln w="12700">
            <a:solidFill>
              <a:srgbClr val="B8C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3" name="Text 33"/>
          <p:cNvSpPr/>
          <p:nvPr/>
        </p:nvSpPr>
        <p:spPr>
          <a:xfrm>
            <a:off x="9646920" y="2770560"/>
            <a:ext cx="1105920" cy="813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18A558"/>
                </a:solidFill>
                <a:effectLst/>
                <a:uFillTx/>
                <a:latin typeface="Arial"/>
                <a:ea typeface="Arial"/>
              </a:rPr>
              <a:t>Commit &amp; push</a:t>
            </a:r>
            <a:endParaRPr lang="en-US" sz="1320" b="0" u="none" strike="noStrike">
              <a:solidFill>
                <a:srgbClr val="000000"/>
              </a:solidFill>
              <a:effectLst/>
              <a:uFillTx/>
              <a:latin typeface="Arial"/>
            </a:endParaRPr>
          </a:p>
          <a:p>
            <a:pPr algn="ctr" defTabSz="914400">
              <a:lnSpc>
                <a:spcPct val="100000"/>
              </a:lnSpc>
              <a:tabLst>
                <a:tab pos="0" algn="l"/>
              </a:tabLst>
            </a:pPr>
            <a:r>
              <a:rPr lang="en-US" sz="1320" b="1" u="none" strike="noStrike">
                <a:solidFill>
                  <a:srgbClr val="18A558"/>
                </a:solidFill>
                <a:effectLst/>
                <a:uFillTx/>
                <a:latin typeface="Arial"/>
                <a:ea typeface="Arial"/>
              </a:rPr>
              <a:t>GitHub</a:t>
            </a:r>
            <a:endParaRPr lang="en-US" sz="1320" b="0" u="none" strike="noStrike">
              <a:solidFill>
                <a:srgbClr val="000000"/>
              </a:solidFill>
              <a:effectLst/>
              <a:uFillTx/>
              <a:latin typeface="Arial"/>
            </a:endParaRPr>
          </a:p>
        </p:txBody>
      </p:sp>
      <p:sp>
        <p:nvSpPr>
          <p:cNvPr id="424" name="Shape 34"/>
          <p:cNvSpPr/>
          <p:nvPr/>
        </p:nvSpPr>
        <p:spPr>
          <a:xfrm>
            <a:off x="914400" y="4709160"/>
            <a:ext cx="10332360" cy="749520"/>
          </a:xfrm>
          <a:prstGeom prst="roundRect">
            <a:avLst>
              <a:gd name="adj" fmla="val 7317"/>
            </a:avLst>
          </a:prstGeom>
          <a:solidFill>
            <a:srgbClr val="FFF4E6"/>
          </a:solidFill>
          <a:ln w="12700">
            <a:solidFill>
              <a:srgbClr val="FFD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5" name="Text 35"/>
          <p:cNvSpPr/>
          <p:nvPr/>
        </p:nvSpPr>
        <p:spPr>
          <a:xfrm>
            <a:off x="1234440" y="4910400"/>
            <a:ext cx="969228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1320" b="0" u="none" strike="noStrike">
                <a:solidFill>
                  <a:srgbClr val="1F2937"/>
                </a:solidFill>
                <a:effectLst/>
                <a:uFillTx/>
                <a:latin typeface="Arial"/>
              </a:rPr>
              <a:t>Sao lưu/phục hồi: Export joomla_db.sql bằng phpMyAdmin; copy toàn bộ thư mục website; khi phục hồi cần import SQL và chỉnh configuration.php cho khớp CSDL.</a:t>
            </a:r>
            <a:endParaRPr lang="en-US" sz="1320" b="0" u="none" strike="noStrike">
              <a:solidFill>
                <a:srgbClr val="000000"/>
              </a:solidFill>
              <a:effectLst/>
              <a:uFillTx/>
              <a:latin typeface="Arial"/>
            </a:endParaRPr>
          </a:p>
        </p:txBody>
      </p:sp>
      <p:sp>
        <p:nvSpPr>
          <p:cNvPr id="426" name="Text 36"/>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427" name="PlaceHolder 1"/>
          <p:cNvSpPr>
            <a:spLocks noGrp="1"/>
          </p:cNvSpPr>
          <p:nvPr>
            <p:ph type="sldNum" idx="18"/>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18F30B39-DAA3-4D9E-BCBF-864CBA05A1B4}" type="slidenum">
              <a:rPr lang="en-US" sz="800" b="0" u="none" strike="noStrike">
                <a:solidFill>
                  <a:srgbClr val="8392A5"/>
                </a:solidFill>
                <a:effectLst/>
                <a:uFillTx/>
                <a:latin typeface="Arial"/>
                <a:ea typeface="Arial"/>
              </a:rPr>
              <a:t>14</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30139"/>
    </mc:Choice>
    <mc:Fallback xmlns="">
      <p:transition spd="slow" advTm="3013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AFF"/>
        </a:solidFill>
        <a:effectLst/>
      </p:bgPr>
    </p:bg>
    <p:spTree>
      <p:nvGrpSpPr>
        <p:cNvPr id="1" name=""/>
        <p:cNvGrpSpPr/>
        <p:nvPr/>
      </p:nvGrpSpPr>
      <p:grpSpPr>
        <a:xfrm>
          <a:off x="0" y="0"/>
          <a:ext cx="0" cy="0"/>
          <a:chOff x="0" y="0"/>
          <a:chExt cx="0" cy="0"/>
        </a:xfrm>
      </p:grpSpPr>
      <p:sp>
        <p:nvSpPr>
          <p:cNvPr id="428" name="Shape 0"/>
          <p:cNvSpPr/>
          <p:nvPr/>
        </p:nvSpPr>
        <p:spPr>
          <a:xfrm>
            <a:off x="0" y="0"/>
            <a:ext cx="12191400" cy="109440"/>
          </a:xfrm>
          <a:prstGeom prst="rect">
            <a:avLst/>
          </a:prstGeom>
          <a:solidFill>
            <a:srgbClr val="0B4F9C"/>
          </a:solidFill>
          <a:ln w="12700">
            <a:solidFill>
              <a:srgbClr val="0B4F9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9" name="Text 1"/>
          <p:cNvSpPr/>
          <p:nvPr/>
        </p:nvSpPr>
        <p:spPr>
          <a:xfrm>
            <a:off x="9464040" y="384120"/>
            <a:ext cx="2148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80" b="1" u="none" strike="noStrike">
                <a:solidFill>
                  <a:srgbClr val="18A558"/>
                </a:solidFill>
                <a:effectLst/>
                <a:uFillTx/>
                <a:latin typeface="Arial"/>
                <a:ea typeface="Arial"/>
              </a:rPr>
              <a:t>KIỂM THỬ</a:t>
            </a:r>
            <a:endParaRPr lang="en-US" sz="880" b="0" u="none" strike="noStrike">
              <a:solidFill>
                <a:srgbClr val="000000"/>
              </a:solidFill>
              <a:effectLst/>
              <a:uFillTx/>
              <a:latin typeface="Arial"/>
            </a:endParaRPr>
          </a:p>
        </p:txBody>
      </p:sp>
      <p:sp>
        <p:nvSpPr>
          <p:cNvPr id="430" name="Text 2"/>
          <p:cNvSpPr/>
          <p:nvPr/>
        </p:nvSpPr>
        <p:spPr>
          <a:xfrm>
            <a:off x="567000" y="438840"/>
            <a:ext cx="87321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800" b="1" u="none" strike="noStrike">
                <a:solidFill>
                  <a:srgbClr val="0B2E59"/>
                </a:solidFill>
                <a:effectLst/>
                <a:uFillTx/>
                <a:latin typeface="Arial"/>
                <a:ea typeface="Arial"/>
              </a:rPr>
              <a:t>Kiểm thử và kết quả đạt được</a:t>
            </a:r>
            <a:endParaRPr lang="en-US" sz="2800" b="0" u="none" strike="noStrike">
              <a:solidFill>
                <a:srgbClr val="000000"/>
              </a:solidFill>
              <a:effectLst/>
              <a:uFillTx/>
              <a:latin typeface="Arial"/>
            </a:endParaRPr>
          </a:p>
        </p:txBody>
      </p:sp>
      <p:sp>
        <p:nvSpPr>
          <p:cNvPr id="431" name="Text 3"/>
          <p:cNvSpPr/>
          <p:nvPr/>
        </p:nvSpPr>
        <p:spPr>
          <a:xfrm>
            <a:off x="585360" y="914400"/>
            <a:ext cx="8137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64748B"/>
                </a:solidFill>
                <a:effectLst/>
                <a:uFillTx/>
                <a:latin typeface="Arial"/>
                <a:ea typeface="Arial"/>
              </a:rPr>
              <a:t>Các nhóm chức năng chính đều được kiểm tra trong môi trường local</a:t>
            </a:r>
            <a:endParaRPr lang="en-US" sz="1050" b="0" u="none" strike="noStrike">
              <a:solidFill>
                <a:srgbClr val="000000"/>
              </a:solidFill>
              <a:effectLst/>
              <a:uFillTx/>
              <a:latin typeface="Arial"/>
            </a:endParaRPr>
          </a:p>
        </p:txBody>
      </p:sp>
      <p:sp>
        <p:nvSpPr>
          <p:cNvPr id="432" name="Shape 4"/>
          <p:cNvSpPr/>
          <p:nvPr/>
        </p:nvSpPr>
        <p:spPr>
          <a:xfrm>
            <a:off x="585000" y="1188720"/>
            <a:ext cx="1828800" cy="360"/>
          </a:xfrm>
          <a:prstGeom prst="line">
            <a:avLst/>
          </a:prstGeom>
          <a:ln w="3175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33" name="Text 5"/>
          <p:cNvSpPr/>
          <p:nvPr/>
        </p:nvSpPr>
        <p:spPr>
          <a:xfrm>
            <a:off x="822960" y="1353240"/>
            <a:ext cx="2925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B2E59"/>
                </a:solidFill>
                <a:effectLst/>
                <a:uFillTx/>
                <a:latin typeface="Arial"/>
              </a:rPr>
              <a:t>Nhóm kiểm thử</a:t>
            </a:r>
            <a:endParaRPr lang="en-US" sz="1800" b="0" u="none" strike="noStrike">
              <a:solidFill>
                <a:srgbClr val="000000"/>
              </a:solidFill>
              <a:effectLst/>
              <a:uFillTx/>
              <a:latin typeface="Arial"/>
            </a:endParaRPr>
          </a:p>
        </p:txBody>
      </p:sp>
      <p:sp>
        <p:nvSpPr>
          <p:cNvPr id="434" name="Shape 6"/>
          <p:cNvSpPr/>
          <p:nvPr/>
        </p:nvSpPr>
        <p:spPr>
          <a:xfrm>
            <a:off x="868680" y="1828800"/>
            <a:ext cx="4297320" cy="365400"/>
          </a:xfrm>
          <a:prstGeom prst="roundRect">
            <a:avLst>
              <a:gd name="adj" fmla="val 20000"/>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5" name="Text 7"/>
          <p:cNvSpPr/>
          <p:nvPr/>
        </p:nvSpPr>
        <p:spPr>
          <a:xfrm>
            <a:off x="978480" y="1901880"/>
            <a:ext cx="40777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F2937"/>
                </a:solidFill>
                <a:effectLst/>
                <a:uFillTx/>
                <a:latin typeface="Arial"/>
                <a:ea typeface="Arial"/>
              </a:rPr>
              <a:t>Trang chủ và banner</a:t>
            </a:r>
            <a:endParaRPr lang="en-US" sz="1240" b="0" u="none" strike="noStrike">
              <a:solidFill>
                <a:srgbClr val="000000"/>
              </a:solidFill>
              <a:effectLst/>
              <a:uFillTx/>
              <a:latin typeface="Arial"/>
            </a:endParaRPr>
          </a:p>
        </p:txBody>
      </p:sp>
      <p:sp>
        <p:nvSpPr>
          <p:cNvPr id="436" name="Shape 8"/>
          <p:cNvSpPr/>
          <p:nvPr/>
        </p:nvSpPr>
        <p:spPr>
          <a:xfrm>
            <a:off x="5486400" y="1828800"/>
            <a:ext cx="914040" cy="365400"/>
          </a:xfrm>
          <a:prstGeom prst="roundRect">
            <a:avLst>
              <a:gd name="adj" fmla="val 20000"/>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7" name="Text 9"/>
          <p:cNvSpPr/>
          <p:nvPr/>
        </p:nvSpPr>
        <p:spPr>
          <a:xfrm>
            <a:off x="5596200" y="1901880"/>
            <a:ext cx="694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8A558"/>
                </a:solidFill>
                <a:effectLst/>
                <a:uFillTx/>
                <a:latin typeface="Arial"/>
                <a:ea typeface="Arial"/>
              </a:rPr>
              <a:t>Đạt</a:t>
            </a:r>
            <a:endParaRPr lang="en-US" sz="1240" b="0" u="none" strike="noStrike">
              <a:solidFill>
                <a:srgbClr val="000000"/>
              </a:solidFill>
              <a:effectLst/>
              <a:uFillTx/>
              <a:latin typeface="Arial"/>
            </a:endParaRPr>
          </a:p>
        </p:txBody>
      </p:sp>
      <p:sp>
        <p:nvSpPr>
          <p:cNvPr id="438" name="Shape 10"/>
          <p:cNvSpPr/>
          <p:nvPr/>
        </p:nvSpPr>
        <p:spPr>
          <a:xfrm>
            <a:off x="868680" y="2359080"/>
            <a:ext cx="4297320" cy="365400"/>
          </a:xfrm>
          <a:prstGeom prst="roundRect">
            <a:avLst>
              <a:gd name="adj" fmla="val 20000"/>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9" name="Text 11"/>
          <p:cNvSpPr/>
          <p:nvPr/>
        </p:nvSpPr>
        <p:spPr>
          <a:xfrm>
            <a:off x="978480" y="2432160"/>
            <a:ext cx="40777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F2937"/>
                </a:solidFill>
                <a:effectLst/>
                <a:uFillTx/>
                <a:latin typeface="Arial"/>
                <a:ea typeface="Arial"/>
              </a:rPr>
              <a:t>Menu chính</a:t>
            </a:r>
            <a:endParaRPr lang="en-US" sz="1240" b="0" u="none" strike="noStrike">
              <a:solidFill>
                <a:srgbClr val="000000"/>
              </a:solidFill>
              <a:effectLst/>
              <a:uFillTx/>
              <a:latin typeface="Arial"/>
            </a:endParaRPr>
          </a:p>
        </p:txBody>
      </p:sp>
      <p:sp>
        <p:nvSpPr>
          <p:cNvPr id="440" name="Shape 12"/>
          <p:cNvSpPr/>
          <p:nvPr/>
        </p:nvSpPr>
        <p:spPr>
          <a:xfrm>
            <a:off x="5486400" y="2359080"/>
            <a:ext cx="914040" cy="365400"/>
          </a:xfrm>
          <a:prstGeom prst="roundRect">
            <a:avLst>
              <a:gd name="adj" fmla="val 20000"/>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1" name="Text 13"/>
          <p:cNvSpPr/>
          <p:nvPr/>
        </p:nvSpPr>
        <p:spPr>
          <a:xfrm>
            <a:off x="5596200" y="2432160"/>
            <a:ext cx="694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8A558"/>
                </a:solidFill>
                <a:effectLst/>
                <a:uFillTx/>
                <a:latin typeface="Arial"/>
                <a:ea typeface="Arial"/>
              </a:rPr>
              <a:t>Đạt</a:t>
            </a:r>
            <a:endParaRPr lang="en-US" sz="1240" b="0" u="none" strike="noStrike">
              <a:solidFill>
                <a:srgbClr val="000000"/>
              </a:solidFill>
              <a:effectLst/>
              <a:uFillTx/>
              <a:latin typeface="Arial"/>
            </a:endParaRPr>
          </a:p>
        </p:txBody>
      </p:sp>
      <p:sp>
        <p:nvSpPr>
          <p:cNvPr id="442" name="Shape 14"/>
          <p:cNvSpPr/>
          <p:nvPr/>
        </p:nvSpPr>
        <p:spPr>
          <a:xfrm>
            <a:off x="868680" y="2889360"/>
            <a:ext cx="4297320" cy="365400"/>
          </a:xfrm>
          <a:prstGeom prst="roundRect">
            <a:avLst>
              <a:gd name="adj" fmla="val 20000"/>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3" name="Text 15"/>
          <p:cNvSpPr/>
          <p:nvPr/>
        </p:nvSpPr>
        <p:spPr>
          <a:xfrm>
            <a:off x="978480" y="2962800"/>
            <a:ext cx="40777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F2937"/>
                </a:solidFill>
                <a:effectLst/>
                <a:uFillTx/>
                <a:latin typeface="Arial"/>
                <a:ea typeface="Arial"/>
              </a:rPr>
              <a:t>Danh sách/chi tiết việc làm</a:t>
            </a:r>
            <a:endParaRPr lang="en-US" sz="1240" b="0" u="none" strike="noStrike">
              <a:solidFill>
                <a:srgbClr val="000000"/>
              </a:solidFill>
              <a:effectLst/>
              <a:uFillTx/>
              <a:latin typeface="Arial"/>
            </a:endParaRPr>
          </a:p>
        </p:txBody>
      </p:sp>
      <p:sp>
        <p:nvSpPr>
          <p:cNvPr id="444" name="Shape 16"/>
          <p:cNvSpPr/>
          <p:nvPr/>
        </p:nvSpPr>
        <p:spPr>
          <a:xfrm>
            <a:off x="5486400" y="2889360"/>
            <a:ext cx="914040" cy="365400"/>
          </a:xfrm>
          <a:prstGeom prst="roundRect">
            <a:avLst>
              <a:gd name="adj" fmla="val 20000"/>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5" name="Text 17"/>
          <p:cNvSpPr/>
          <p:nvPr/>
        </p:nvSpPr>
        <p:spPr>
          <a:xfrm>
            <a:off x="5596200" y="2962800"/>
            <a:ext cx="694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8A558"/>
                </a:solidFill>
                <a:effectLst/>
                <a:uFillTx/>
                <a:latin typeface="Arial"/>
                <a:ea typeface="Arial"/>
              </a:rPr>
              <a:t>Đạt</a:t>
            </a:r>
            <a:endParaRPr lang="en-US" sz="1240" b="0" u="none" strike="noStrike">
              <a:solidFill>
                <a:srgbClr val="000000"/>
              </a:solidFill>
              <a:effectLst/>
              <a:uFillTx/>
              <a:latin typeface="Arial"/>
            </a:endParaRPr>
          </a:p>
        </p:txBody>
      </p:sp>
      <p:sp>
        <p:nvSpPr>
          <p:cNvPr id="446" name="Shape 18"/>
          <p:cNvSpPr/>
          <p:nvPr/>
        </p:nvSpPr>
        <p:spPr>
          <a:xfrm>
            <a:off x="868680" y="3420000"/>
            <a:ext cx="4297320" cy="365400"/>
          </a:xfrm>
          <a:prstGeom prst="roundRect">
            <a:avLst>
              <a:gd name="adj" fmla="val 20000"/>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7" name="Text 19"/>
          <p:cNvSpPr/>
          <p:nvPr/>
        </p:nvSpPr>
        <p:spPr>
          <a:xfrm>
            <a:off x="978480" y="3493080"/>
            <a:ext cx="40777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F2937"/>
                </a:solidFill>
                <a:effectLst/>
                <a:uFillTx/>
                <a:latin typeface="Arial"/>
                <a:ea typeface="Arial"/>
              </a:rPr>
              <a:t>Lọc 5 nhóm ngành nghề</a:t>
            </a:r>
            <a:endParaRPr lang="en-US" sz="1240" b="0" u="none" strike="noStrike">
              <a:solidFill>
                <a:srgbClr val="000000"/>
              </a:solidFill>
              <a:effectLst/>
              <a:uFillTx/>
              <a:latin typeface="Arial"/>
            </a:endParaRPr>
          </a:p>
        </p:txBody>
      </p:sp>
      <p:sp>
        <p:nvSpPr>
          <p:cNvPr id="448" name="Shape 20"/>
          <p:cNvSpPr/>
          <p:nvPr/>
        </p:nvSpPr>
        <p:spPr>
          <a:xfrm>
            <a:off x="5486400" y="3420000"/>
            <a:ext cx="914040" cy="365400"/>
          </a:xfrm>
          <a:prstGeom prst="roundRect">
            <a:avLst>
              <a:gd name="adj" fmla="val 20000"/>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9" name="Text 21"/>
          <p:cNvSpPr/>
          <p:nvPr/>
        </p:nvSpPr>
        <p:spPr>
          <a:xfrm>
            <a:off x="5596200" y="3493080"/>
            <a:ext cx="694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8A558"/>
                </a:solidFill>
                <a:effectLst/>
                <a:uFillTx/>
                <a:latin typeface="Arial"/>
                <a:ea typeface="Arial"/>
              </a:rPr>
              <a:t>Đạt</a:t>
            </a:r>
            <a:endParaRPr lang="en-US" sz="1240" b="0" u="none" strike="noStrike">
              <a:solidFill>
                <a:srgbClr val="000000"/>
              </a:solidFill>
              <a:effectLst/>
              <a:uFillTx/>
              <a:latin typeface="Arial"/>
            </a:endParaRPr>
          </a:p>
        </p:txBody>
      </p:sp>
      <p:sp>
        <p:nvSpPr>
          <p:cNvPr id="450" name="Shape 22"/>
          <p:cNvSpPr/>
          <p:nvPr/>
        </p:nvSpPr>
        <p:spPr>
          <a:xfrm>
            <a:off x="868680" y="3950280"/>
            <a:ext cx="4297320" cy="365400"/>
          </a:xfrm>
          <a:prstGeom prst="roundRect">
            <a:avLst>
              <a:gd name="adj" fmla="val 20000"/>
            </a:avLst>
          </a:prstGeom>
          <a:solidFill>
            <a:srgbClr val="EAF4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1" name="Text 23"/>
          <p:cNvSpPr/>
          <p:nvPr/>
        </p:nvSpPr>
        <p:spPr>
          <a:xfrm>
            <a:off x="978480" y="4023360"/>
            <a:ext cx="40777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F2937"/>
                </a:solidFill>
                <a:effectLst/>
                <a:uFillTx/>
                <a:latin typeface="Arial"/>
                <a:ea typeface="Arial"/>
              </a:rPr>
              <a:t>Smart Search</a:t>
            </a:r>
            <a:endParaRPr lang="en-US" sz="1240" b="0" u="none" strike="noStrike">
              <a:solidFill>
                <a:srgbClr val="000000"/>
              </a:solidFill>
              <a:effectLst/>
              <a:uFillTx/>
              <a:latin typeface="Arial"/>
            </a:endParaRPr>
          </a:p>
        </p:txBody>
      </p:sp>
      <p:sp>
        <p:nvSpPr>
          <p:cNvPr id="452" name="Shape 24"/>
          <p:cNvSpPr/>
          <p:nvPr/>
        </p:nvSpPr>
        <p:spPr>
          <a:xfrm>
            <a:off x="5486400" y="3950280"/>
            <a:ext cx="914040" cy="365400"/>
          </a:xfrm>
          <a:prstGeom prst="roundRect">
            <a:avLst>
              <a:gd name="adj" fmla="val 20000"/>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3" name="Text 25"/>
          <p:cNvSpPr/>
          <p:nvPr/>
        </p:nvSpPr>
        <p:spPr>
          <a:xfrm>
            <a:off x="5596200" y="4023360"/>
            <a:ext cx="694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8A558"/>
                </a:solidFill>
                <a:effectLst/>
                <a:uFillTx/>
                <a:latin typeface="Arial"/>
                <a:ea typeface="Arial"/>
              </a:rPr>
              <a:t>Đạt</a:t>
            </a:r>
            <a:endParaRPr lang="en-US" sz="1240" b="0" u="none" strike="noStrike">
              <a:solidFill>
                <a:srgbClr val="000000"/>
              </a:solidFill>
              <a:effectLst/>
              <a:uFillTx/>
              <a:latin typeface="Arial"/>
            </a:endParaRPr>
          </a:p>
        </p:txBody>
      </p:sp>
      <p:sp>
        <p:nvSpPr>
          <p:cNvPr id="454" name="Shape 26"/>
          <p:cNvSpPr/>
          <p:nvPr/>
        </p:nvSpPr>
        <p:spPr>
          <a:xfrm>
            <a:off x="868680" y="4480560"/>
            <a:ext cx="4297320" cy="365400"/>
          </a:xfrm>
          <a:prstGeom prst="roundRect">
            <a:avLst>
              <a:gd name="adj" fmla="val 20000"/>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5" name="Text 27"/>
          <p:cNvSpPr/>
          <p:nvPr/>
        </p:nvSpPr>
        <p:spPr>
          <a:xfrm>
            <a:off x="978480" y="4553640"/>
            <a:ext cx="40777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F2937"/>
                </a:solidFill>
                <a:effectLst/>
                <a:uFillTx/>
                <a:latin typeface="Arial"/>
                <a:ea typeface="Arial"/>
              </a:rPr>
              <a:t>Sao lưu và phục hồi</a:t>
            </a:r>
            <a:endParaRPr lang="en-US" sz="1240" b="0" u="none" strike="noStrike">
              <a:solidFill>
                <a:srgbClr val="000000"/>
              </a:solidFill>
              <a:effectLst/>
              <a:uFillTx/>
              <a:latin typeface="Arial"/>
            </a:endParaRPr>
          </a:p>
        </p:txBody>
      </p:sp>
      <p:sp>
        <p:nvSpPr>
          <p:cNvPr id="456" name="Shape 28"/>
          <p:cNvSpPr/>
          <p:nvPr/>
        </p:nvSpPr>
        <p:spPr>
          <a:xfrm>
            <a:off x="5486400" y="4480560"/>
            <a:ext cx="914040" cy="365400"/>
          </a:xfrm>
          <a:prstGeom prst="roundRect">
            <a:avLst>
              <a:gd name="adj" fmla="val 20000"/>
            </a:avLst>
          </a:prstGeom>
          <a:solidFill>
            <a:srgbClr val="F1FBF5"/>
          </a:solidFill>
          <a:ln w="12700">
            <a:solidFill>
              <a:srgbClr val="BCEA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7" name="Text 29"/>
          <p:cNvSpPr/>
          <p:nvPr/>
        </p:nvSpPr>
        <p:spPr>
          <a:xfrm>
            <a:off x="5596200" y="4553640"/>
            <a:ext cx="694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8A558"/>
                </a:solidFill>
                <a:effectLst/>
                <a:uFillTx/>
                <a:latin typeface="Arial"/>
                <a:ea typeface="Arial"/>
              </a:rPr>
              <a:t>Đạt</a:t>
            </a:r>
            <a:endParaRPr lang="en-US" sz="1240" b="0" u="none" strike="noStrike">
              <a:solidFill>
                <a:srgbClr val="000000"/>
              </a:solidFill>
              <a:effectLst/>
              <a:uFillTx/>
              <a:latin typeface="Arial"/>
            </a:endParaRPr>
          </a:p>
        </p:txBody>
      </p:sp>
      <p:sp>
        <p:nvSpPr>
          <p:cNvPr id="458" name="Shape 30"/>
          <p:cNvSpPr/>
          <p:nvPr/>
        </p:nvSpPr>
        <p:spPr>
          <a:xfrm>
            <a:off x="7635240" y="1645920"/>
            <a:ext cx="3337200" cy="3382920"/>
          </a:xfrm>
          <a:prstGeom prst="roundRect">
            <a:avLst>
              <a:gd name="adj" fmla="val 1644"/>
            </a:avLst>
          </a:prstGeom>
          <a:solidFill>
            <a:srgbClr val="FFFFFF"/>
          </a:solidFill>
          <a:ln w="12700">
            <a:solidFill>
              <a:srgbClr val="C7D7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9" name="Text 31"/>
          <p:cNvSpPr/>
          <p:nvPr/>
        </p:nvSpPr>
        <p:spPr>
          <a:xfrm>
            <a:off x="7927920" y="1938600"/>
            <a:ext cx="2788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E59"/>
                </a:solidFill>
                <a:effectLst/>
                <a:uFillTx/>
                <a:latin typeface="Arial"/>
              </a:rPr>
              <a:t>Kết quả chính</a:t>
            </a:r>
            <a:endParaRPr lang="en-US" sz="1800" b="0" u="none" strike="noStrike">
              <a:solidFill>
                <a:srgbClr val="000000"/>
              </a:solidFill>
              <a:effectLst/>
              <a:uFillTx/>
              <a:latin typeface="Arial"/>
            </a:endParaRPr>
          </a:p>
        </p:txBody>
      </p:sp>
      <p:sp>
        <p:nvSpPr>
          <p:cNvPr id="460" name="Shape 32"/>
          <p:cNvSpPr/>
          <p:nvPr/>
        </p:nvSpPr>
        <p:spPr>
          <a:xfrm>
            <a:off x="7936920" y="265176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461" name="Text 33"/>
          <p:cNvSpPr/>
          <p:nvPr/>
        </p:nvSpPr>
        <p:spPr>
          <a:xfrm>
            <a:off x="8138160" y="2606040"/>
            <a:ext cx="2605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1240" b="0" u="none" strike="noStrike">
                <a:solidFill>
                  <a:srgbClr val="1F2937"/>
                </a:solidFill>
                <a:effectLst/>
                <a:uFillTx/>
                <a:latin typeface="Arial"/>
                <a:ea typeface="Arial"/>
              </a:rPr>
              <a:t>Trang chủ hiển thị đúng banner, module, ngành nghề</a:t>
            </a:r>
            <a:endParaRPr lang="en-US" sz="1240" b="0" u="none" strike="noStrike">
              <a:solidFill>
                <a:srgbClr val="000000"/>
              </a:solidFill>
              <a:effectLst/>
              <a:uFillTx/>
              <a:latin typeface="Arial"/>
            </a:endParaRPr>
          </a:p>
        </p:txBody>
      </p:sp>
      <p:sp>
        <p:nvSpPr>
          <p:cNvPr id="462" name="Shape 34"/>
          <p:cNvSpPr/>
          <p:nvPr/>
        </p:nvSpPr>
        <p:spPr>
          <a:xfrm>
            <a:off x="7936920" y="329184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463" name="Text 35"/>
          <p:cNvSpPr/>
          <p:nvPr/>
        </p:nvSpPr>
        <p:spPr>
          <a:xfrm>
            <a:off x="8138160" y="3246120"/>
            <a:ext cx="2605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1240" b="0" u="none" strike="noStrike">
                <a:solidFill>
                  <a:srgbClr val="1F2937"/>
                </a:solidFill>
                <a:effectLst/>
                <a:uFillTx/>
                <a:latin typeface="Arial"/>
                <a:ea typeface="Arial"/>
              </a:rPr>
              <a:t>5 nhóm ngành lọc được theo nội dung minh họa</a:t>
            </a:r>
            <a:endParaRPr lang="en-US" sz="1240" b="0" u="none" strike="noStrike">
              <a:solidFill>
                <a:srgbClr val="000000"/>
              </a:solidFill>
              <a:effectLst/>
              <a:uFillTx/>
              <a:latin typeface="Arial"/>
            </a:endParaRPr>
          </a:p>
        </p:txBody>
      </p:sp>
      <p:sp>
        <p:nvSpPr>
          <p:cNvPr id="464" name="Shape 36"/>
          <p:cNvSpPr/>
          <p:nvPr/>
        </p:nvSpPr>
        <p:spPr>
          <a:xfrm>
            <a:off x="7936920" y="3931920"/>
            <a:ext cx="109440" cy="109440"/>
          </a:xfrm>
          <a:prstGeom prst="ellipse">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465" name="Text 37"/>
          <p:cNvSpPr/>
          <p:nvPr/>
        </p:nvSpPr>
        <p:spPr>
          <a:xfrm>
            <a:off x="8138160" y="3886200"/>
            <a:ext cx="2605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1240" b="0" u="none" strike="noStrike">
                <a:solidFill>
                  <a:srgbClr val="1F2937"/>
                </a:solidFill>
                <a:effectLst/>
                <a:uFillTx/>
                <a:latin typeface="Arial"/>
                <a:ea typeface="Arial"/>
              </a:rPr>
              <a:t>Smart Search tìm kiếm được bài viết đã lập chỉ mục</a:t>
            </a:r>
            <a:endParaRPr lang="en-US" sz="1240" b="0" u="none" strike="noStrike">
              <a:solidFill>
                <a:srgbClr val="000000"/>
              </a:solidFill>
              <a:effectLst/>
              <a:uFillTx/>
              <a:latin typeface="Arial"/>
            </a:endParaRPr>
          </a:p>
        </p:txBody>
      </p:sp>
      <p:sp>
        <p:nvSpPr>
          <p:cNvPr id="466" name="Text 38"/>
          <p:cNvSpPr/>
          <p:nvPr/>
        </p:nvSpPr>
        <p:spPr>
          <a:xfrm>
            <a:off x="502920" y="656532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4748B"/>
                </a:solidFill>
                <a:effectLst/>
                <a:uFillTx/>
                <a:latin typeface="Arial"/>
                <a:ea typeface="Arial"/>
              </a:rPr>
              <a:t>Đồ án thực tập cơ sở ngành · Joomla CMS</a:t>
            </a:r>
            <a:endParaRPr lang="en-US" sz="850" b="0" u="none" strike="noStrike">
              <a:solidFill>
                <a:srgbClr val="000000"/>
              </a:solidFill>
              <a:effectLst/>
              <a:uFillTx/>
              <a:latin typeface="Arial"/>
            </a:endParaRPr>
          </a:p>
        </p:txBody>
      </p:sp>
      <p:sp>
        <p:nvSpPr>
          <p:cNvPr id="467" name="PlaceHolder 1"/>
          <p:cNvSpPr>
            <a:spLocks noGrp="1"/>
          </p:cNvSpPr>
          <p:nvPr>
            <p:ph type="sldNum" idx="19"/>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C9596F0F-F813-40F7-BE07-F87849F136FE}" type="slidenum">
              <a:rPr lang="en-US" sz="800" b="0" u="none" strike="noStrike">
                <a:solidFill>
                  <a:srgbClr val="8392A5"/>
                </a:solidFill>
                <a:effectLst/>
                <a:uFillTx/>
                <a:latin typeface="Arial"/>
                <a:ea typeface="Arial"/>
              </a:rPr>
              <a:t>15</a:t>
            </a:fld>
            <a:endParaRPr lang="en-US" sz="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9892"/>
    </mc:Choice>
    <mc:Fallback xmlns="">
      <p:transition spd="slow" advTm="2989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2E59"/>
        </a:solidFill>
        <a:effectLst/>
      </p:bgPr>
    </p:bg>
    <p:spTree>
      <p:nvGrpSpPr>
        <p:cNvPr id="1" name=""/>
        <p:cNvGrpSpPr/>
        <p:nvPr/>
      </p:nvGrpSpPr>
      <p:grpSpPr>
        <a:xfrm>
          <a:off x="0" y="0"/>
          <a:ext cx="0" cy="0"/>
          <a:chOff x="0" y="0"/>
          <a:chExt cx="0" cy="0"/>
        </a:xfrm>
      </p:grpSpPr>
      <p:sp>
        <p:nvSpPr>
          <p:cNvPr id="468" name="Shape 0"/>
          <p:cNvSpPr/>
          <p:nvPr/>
        </p:nvSpPr>
        <p:spPr>
          <a:xfrm>
            <a:off x="0" y="0"/>
            <a:ext cx="12191400" cy="6857640"/>
          </a:xfrm>
          <a:prstGeom prst="rect">
            <a:avLst/>
          </a:prstGeom>
          <a:solidFill>
            <a:srgbClr val="0B2E59"/>
          </a:solidFill>
          <a:ln w="12700">
            <a:solidFill>
              <a:srgbClr val="0B2E59">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9" name="Shape 1"/>
          <p:cNvSpPr/>
          <p:nvPr/>
        </p:nvSpPr>
        <p:spPr>
          <a:xfrm>
            <a:off x="0" y="0"/>
            <a:ext cx="164160" cy="6857640"/>
          </a:xfrm>
          <a:prstGeom prst="rect">
            <a:avLst/>
          </a:prstGeom>
          <a:solidFill>
            <a:srgbClr val="18A558"/>
          </a:solidFill>
          <a:ln w="12700">
            <a:solidFill>
              <a:srgbClr val="18A55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0" name="Shape 2"/>
          <p:cNvSpPr/>
          <p:nvPr/>
        </p:nvSpPr>
        <p:spPr>
          <a:xfrm>
            <a:off x="12027240" y="0"/>
            <a:ext cx="164160" cy="6857640"/>
          </a:xfrm>
          <a:prstGeom prst="rect">
            <a:avLst/>
          </a:prstGeom>
          <a:solidFill>
            <a:srgbClr val="F58220"/>
          </a:solidFill>
          <a:ln w="12700">
            <a:solidFill>
              <a:srgbClr val="F58220">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71" name="Image 0" descr="/mnt/data/joomla_report_work/tvu_logo.png"/>
          <p:cNvPicPr/>
          <p:nvPr/>
        </p:nvPicPr>
        <p:blipFill>
          <a:blip r:embed="rId3"/>
          <a:stretch/>
        </p:blipFill>
        <p:spPr>
          <a:xfrm>
            <a:off x="594360" y="384120"/>
            <a:ext cx="749520" cy="749520"/>
          </a:xfrm>
          <a:prstGeom prst="rect">
            <a:avLst/>
          </a:prstGeom>
          <a:noFill/>
          <a:ln w="0">
            <a:noFill/>
          </a:ln>
        </p:spPr>
      </p:pic>
      <p:sp>
        <p:nvSpPr>
          <p:cNvPr id="472" name="Text 3"/>
          <p:cNvSpPr/>
          <p:nvPr/>
        </p:nvSpPr>
        <p:spPr>
          <a:xfrm>
            <a:off x="685800" y="1143000"/>
            <a:ext cx="5303160" cy="80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3400" b="1" u="none" strike="noStrike">
                <a:solidFill>
                  <a:srgbClr val="FFFFFF"/>
                </a:solidFill>
                <a:effectLst/>
                <a:uFillTx/>
                <a:latin typeface="Arial"/>
                <a:ea typeface="Arial"/>
              </a:rPr>
              <a:t>Đánh giá, hướng phát triển</a:t>
            </a:r>
            <a:endParaRPr lang="en-US" sz="3400" b="0" u="none" strike="noStrike">
              <a:solidFill>
                <a:srgbClr val="FFFFFF"/>
              </a:solidFill>
              <a:effectLst/>
              <a:uFillTx/>
              <a:latin typeface="Arial"/>
            </a:endParaRPr>
          </a:p>
          <a:p>
            <a:pPr defTabSz="914400">
              <a:lnSpc>
                <a:spcPct val="100000"/>
              </a:lnSpc>
              <a:tabLst>
                <a:tab pos="0" algn="l"/>
              </a:tabLst>
            </a:pPr>
            <a:r>
              <a:rPr lang="en-US" sz="3400" b="1" u="none" strike="noStrike">
                <a:solidFill>
                  <a:srgbClr val="FFFFFF"/>
                </a:solidFill>
                <a:effectLst/>
                <a:uFillTx/>
                <a:latin typeface="Arial"/>
                <a:ea typeface="Arial"/>
              </a:rPr>
              <a:t>và kết luận</a:t>
            </a:r>
            <a:endParaRPr lang="en-US" sz="3400" b="0" u="none" strike="noStrike">
              <a:solidFill>
                <a:srgbClr val="FFFFFF"/>
              </a:solidFill>
              <a:effectLst/>
              <a:uFillTx/>
              <a:latin typeface="Arial"/>
            </a:endParaRPr>
          </a:p>
        </p:txBody>
      </p:sp>
      <p:sp>
        <p:nvSpPr>
          <p:cNvPr id="473" name="Shape 4"/>
          <p:cNvSpPr/>
          <p:nvPr/>
        </p:nvSpPr>
        <p:spPr>
          <a:xfrm>
            <a:off x="731520" y="2176200"/>
            <a:ext cx="2560320" cy="360"/>
          </a:xfrm>
          <a:prstGeom prst="line">
            <a:avLst/>
          </a:prstGeom>
          <a:ln w="50800">
            <a:solidFill>
              <a:srgbClr val="18A55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474" name="Shape 5"/>
          <p:cNvSpPr/>
          <p:nvPr/>
        </p:nvSpPr>
        <p:spPr>
          <a:xfrm>
            <a:off x="777240" y="2788920"/>
            <a:ext cx="3428640" cy="1462680"/>
          </a:xfrm>
          <a:prstGeom prst="roundRect">
            <a:avLst>
              <a:gd name="adj" fmla="val 500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5" name="Text 6"/>
          <p:cNvSpPr/>
          <p:nvPr/>
        </p:nvSpPr>
        <p:spPr>
          <a:xfrm>
            <a:off x="887040" y="2862000"/>
            <a:ext cx="3209040" cy="1316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0" u="none" strike="noStrike">
                <a:solidFill>
                  <a:srgbClr val="1F2937"/>
                </a:solidFill>
                <a:effectLst/>
                <a:uFillTx/>
                <a:latin typeface="Arial"/>
                <a:ea typeface="Arial"/>
              </a:rPr>
              <a:t>Ưu điểm</a:t>
            </a:r>
            <a:endParaRPr lang="en-US" sz="1320" b="0" u="none" strike="noStrike">
              <a:solidFill>
                <a:srgbClr val="FFFFFF"/>
              </a:solidFill>
              <a:effectLst/>
              <a:uFillTx/>
              <a:latin typeface="Arial"/>
            </a:endParaRPr>
          </a:p>
          <a:p>
            <a:pPr algn="ctr" defTabSz="914400">
              <a:lnSpc>
                <a:spcPct val="100000"/>
              </a:lnSpc>
              <a:tabLst>
                <a:tab pos="0" algn="l"/>
              </a:tabLst>
            </a:pPr>
            <a:r>
              <a:rPr lang="en-US" sz="1320" b="0" u="none" strike="noStrike">
                <a:solidFill>
                  <a:srgbClr val="1F2937"/>
                </a:solidFill>
                <a:effectLst/>
                <a:uFillTx/>
                <a:latin typeface="Arial"/>
                <a:ea typeface="Arial"/>
              </a:rPr>
              <a:t>Quản trị nội dung bằng Joomla; menu, danh mục và tìm kiếm rõ ràng; có backup và GitHub.</a:t>
            </a:r>
            <a:endParaRPr lang="en-US" sz="1320" b="0" u="none" strike="noStrike">
              <a:solidFill>
                <a:srgbClr val="FFFFFF"/>
              </a:solidFill>
              <a:effectLst/>
              <a:uFillTx/>
              <a:latin typeface="Arial"/>
            </a:endParaRPr>
          </a:p>
        </p:txBody>
      </p:sp>
      <p:sp>
        <p:nvSpPr>
          <p:cNvPr id="476" name="Shape 7"/>
          <p:cNvSpPr/>
          <p:nvPr/>
        </p:nvSpPr>
        <p:spPr>
          <a:xfrm>
            <a:off x="4389120" y="2788920"/>
            <a:ext cx="3428640" cy="1462680"/>
          </a:xfrm>
          <a:prstGeom prst="roundRect">
            <a:avLst>
              <a:gd name="adj" fmla="val 500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7" name="Text 8"/>
          <p:cNvSpPr/>
          <p:nvPr/>
        </p:nvSpPr>
        <p:spPr>
          <a:xfrm>
            <a:off x="4498920" y="2862000"/>
            <a:ext cx="3209040" cy="1316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0" u="none" strike="noStrike">
                <a:solidFill>
                  <a:srgbClr val="1F2937"/>
                </a:solidFill>
                <a:effectLst/>
                <a:uFillTx/>
                <a:latin typeface="Arial"/>
                <a:ea typeface="Arial"/>
              </a:rPr>
              <a:t>Hạn chế</a:t>
            </a:r>
            <a:endParaRPr lang="en-US" sz="1320" b="0" u="none" strike="noStrike">
              <a:solidFill>
                <a:srgbClr val="FFFFFF"/>
              </a:solidFill>
              <a:effectLst/>
              <a:uFillTx/>
              <a:latin typeface="Arial"/>
            </a:endParaRPr>
          </a:p>
          <a:p>
            <a:pPr algn="ctr" defTabSz="914400">
              <a:lnSpc>
                <a:spcPct val="100000"/>
              </a:lnSpc>
              <a:tabLst>
                <a:tab pos="0" algn="l"/>
              </a:tabLst>
            </a:pPr>
            <a:r>
              <a:rPr lang="en-US" sz="1320" b="0" u="none" strike="noStrike">
                <a:solidFill>
                  <a:srgbClr val="1F2937"/>
                </a:solidFill>
                <a:effectLst/>
                <a:uFillTx/>
                <a:latin typeface="Arial"/>
                <a:ea typeface="Arial"/>
              </a:rPr>
              <a:t>Chạy local; chưa có ứng tuyển online; dữ liệu minh họa; tìm kiếm địa điểm chưa xử lý sâu.</a:t>
            </a:r>
            <a:endParaRPr lang="en-US" sz="1320" b="0" u="none" strike="noStrike">
              <a:solidFill>
                <a:srgbClr val="FFFFFF"/>
              </a:solidFill>
              <a:effectLst/>
              <a:uFillTx/>
              <a:latin typeface="Arial"/>
            </a:endParaRPr>
          </a:p>
        </p:txBody>
      </p:sp>
      <p:sp>
        <p:nvSpPr>
          <p:cNvPr id="478" name="Shape 9"/>
          <p:cNvSpPr/>
          <p:nvPr/>
        </p:nvSpPr>
        <p:spPr>
          <a:xfrm>
            <a:off x="8001000" y="2788920"/>
            <a:ext cx="3428640" cy="1462680"/>
          </a:xfrm>
          <a:prstGeom prst="roundRect">
            <a:avLst>
              <a:gd name="adj" fmla="val 500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9" name="Text 10"/>
          <p:cNvSpPr/>
          <p:nvPr/>
        </p:nvSpPr>
        <p:spPr>
          <a:xfrm>
            <a:off x="8110800" y="2862000"/>
            <a:ext cx="3209040" cy="1316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0" u="none" strike="noStrike">
                <a:solidFill>
                  <a:srgbClr val="1F2937"/>
                </a:solidFill>
                <a:effectLst/>
                <a:uFillTx/>
                <a:latin typeface="Arial"/>
                <a:ea typeface="Arial"/>
              </a:rPr>
              <a:t>Phát triển</a:t>
            </a:r>
            <a:endParaRPr lang="en-US" sz="1320" b="0" u="none" strike="noStrike">
              <a:solidFill>
                <a:srgbClr val="FFFFFF"/>
              </a:solidFill>
              <a:effectLst/>
              <a:uFillTx/>
              <a:latin typeface="Arial"/>
            </a:endParaRPr>
          </a:p>
          <a:p>
            <a:pPr algn="ctr" defTabSz="914400">
              <a:lnSpc>
                <a:spcPct val="100000"/>
              </a:lnSpc>
              <a:tabLst>
                <a:tab pos="0" algn="l"/>
              </a:tabLst>
            </a:pPr>
            <a:r>
              <a:rPr lang="en-US" sz="1320" b="0" u="none" strike="noStrike">
                <a:solidFill>
                  <a:srgbClr val="1F2937"/>
                </a:solidFill>
                <a:effectLst/>
                <a:uFillTx/>
                <a:latin typeface="Arial"/>
                <a:ea typeface="Arial"/>
              </a:rPr>
              <a:t>Tài khoản người tìm việc/nhà tuyển dụng; ứng tuyển CV; lọc lương, địa điểm; triển khai hosting.</a:t>
            </a:r>
            <a:endParaRPr lang="en-US" sz="1320" b="0" u="none" strike="noStrike">
              <a:solidFill>
                <a:srgbClr val="FFFFFF"/>
              </a:solidFill>
              <a:effectLst/>
              <a:uFillTx/>
              <a:latin typeface="Arial"/>
            </a:endParaRPr>
          </a:p>
        </p:txBody>
      </p:sp>
      <p:sp>
        <p:nvSpPr>
          <p:cNvPr id="480" name="Text 11"/>
          <p:cNvSpPr/>
          <p:nvPr/>
        </p:nvSpPr>
        <p:spPr>
          <a:xfrm>
            <a:off x="914400" y="4983480"/>
            <a:ext cx="103323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600" b="0" u="none" strike="noStrike">
                <a:solidFill>
                  <a:srgbClr val="DCEBFF"/>
                </a:solidFill>
                <a:effectLst/>
                <a:uFillTx/>
                <a:latin typeface="Arial"/>
                <a:ea typeface="Arial"/>
              </a:rPr>
              <a:t>Kết luận: Website đã đáp ứng phạm vi đồ án — giới thiệu Trung tâm, đăng và phân loại việc làm, hỗ trợ tìm kiếm/lọc ngành, quản trị nội dung và kiểm thử vận hành trên XAMPP local.</a:t>
            </a:r>
            <a:endParaRPr lang="en-US" sz="1600" b="0" u="none" strike="noStrike">
              <a:solidFill>
                <a:srgbClr val="FFFFFF"/>
              </a:solidFill>
              <a:effectLst/>
              <a:uFillTx/>
              <a:latin typeface="Arial"/>
            </a:endParaRPr>
          </a:p>
        </p:txBody>
      </p:sp>
      <p:sp>
        <p:nvSpPr>
          <p:cNvPr id="481" name="Text 12"/>
          <p:cNvSpPr/>
          <p:nvPr/>
        </p:nvSpPr>
        <p:spPr>
          <a:xfrm>
            <a:off x="1874520" y="5989320"/>
            <a:ext cx="84121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Arial"/>
                <a:ea typeface="Arial"/>
              </a:rPr>
              <a:t>Cảm ơn thầy/cô và các bạn đã lắng nghe</a:t>
            </a:r>
            <a:endParaRPr lang="en-US" sz="2000" b="0" u="none" strike="noStrike">
              <a:solidFill>
                <a:srgbClr val="FFFFFF"/>
              </a:solidFill>
              <a:effectLst/>
              <a:uFillTx/>
              <a:latin typeface="Arial"/>
            </a:endParaRPr>
          </a:p>
        </p:txBody>
      </p:sp>
      <p:sp>
        <p:nvSpPr>
          <p:cNvPr id="482" name="PlaceHolder 1"/>
          <p:cNvSpPr>
            <a:spLocks noGrp="1"/>
          </p:cNvSpPr>
          <p:nvPr>
            <p:ph type="sldNum" idx="20"/>
          </p:nvPr>
        </p:nvSpPr>
        <p:spPr>
          <a:xfrm>
            <a:off x="11292840" y="647388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8392A5"/>
                </a:solidFill>
                <a:effectLst/>
                <a:uFillTx/>
                <a:latin typeface="Arial"/>
                <a:ea typeface="Arial"/>
              </a:defRPr>
            </a:lvl1pPr>
          </a:lstStyle>
          <a:p>
            <a:pPr indent="0" defTabSz="914400">
              <a:lnSpc>
                <a:spcPct val="100000"/>
              </a:lnSpc>
              <a:buNone/>
            </a:pPr>
            <a:fld id="{9D5A29FA-00F7-4BC0-AC85-D6159DC0DD01}" type="slidenum">
              <a:rPr lang="en-US" sz="800" b="0" u="none" strike="noStrike">
                <a:solidFill>
                  <a:srgbClr val="8392A5"/>
                </a:solidFill>
                <a:effectLst/>
                <a:uFillTx/>
                <a:latin typeface="Arial"/>
                <a:ea typeface="Arial"/>
              </a:rPr>
              <a:t>16</a:t>
            </a:fld>
            <a:endParaRPr lang="en-US" sz="800" b="0" u="none" strike="noStrike">
              <a:solidFill>
                <a:srgbClr val="FFFFFF"/>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55329"/>
    </mc:Choice>
    <mc:Fallback xmlns="">
      <p:transition spd="slow" advTm="5532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28E84-853B-1C48-AB8C-35AA68FC987D}"/>
              </a:ext>
            </a:extLst>
          </p:cNvPr>
          <p:cNvSpPr>
            <a:spLocks noGrp="1"/>
          </p:cNvSpPr>
          <p:nvPr>
            <p:ph type="title"/>
          </p:nvPr>
        </p:nvSpPr>
        <p:spPr/>
        <p:txBody>
          <a:bodyPr/>
          <a:lstStyle/>
          <a:p>
            <a:r>
              <a:rPr lang="en-US"/>
              <a:t>Link Thuyết Trình</a:t>
            </a:r>
          </a:p>
        </p:txBody>
      </p:sp>
      <p:sp>
        <p:nvSpPr>
          <p:cNvPr id="3" name="Text Placeholder 2">
            <a:extLst>
              <a:ext uri="{FF2B5EF4-FFF2-40B4-BE49-F238E27FC236}">
                <a16:creationId xmlns:a16="http://schemas.microsoft.com/office/drawing/2014/main" id="{FCAA6958-725D-08B7-B8C5-6049230C1D66}"/>
              </a:ext>
            </a:extLst>
          </p:cNvPr>
          <p:cNvSpPr>
            <a:spLocks noGrp="1"/>
          </p:cNvSpPr>
          <p:nvPr>
            <p:ph type="body"/>
          </p:nvPr>
        </p:nvSpPr>
        <p:spPr>
          <a:xfrm>
            <a:off x="609480" y="1515804"/>
            <a:ext cx="10972080" cy="1144800"/>
          </a:xfrm>
        </p:spPr>
        <p:txBody>
          <a:bodyPr/>
          <a:lstStyle/>
          <a:p>
            <a:r>
              <a:rPr lang="en-US" sz="1800">
                <a:hlinkClick r:id="rId2"/>
              </a:rPr>
              <a:t>https://drive.google.com/file/d/1PNPgLhUp3ZDONjZ7nx--ox5oB2RpmYxp/view?usp=drive_link</a:t>
            </a:r>
            <a:endParaRPr lang="en-US" sz="1800" dirty="0"/>
          </a:p>
        </p:txBody>
      </p:sp>
    </p:spTree>
    <p:extLst>
      <p:ext uri="{BB962C8B-B14F-4D97-AF65-F5344CB8AC3E}">
        <p14:creationId xmlns:p14="http://schemas.microsoft.com/office/powerpoint/2010/main" val="281956785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TotalTime>
  <Words>1789</Words>
  <Application>Microsoft Office PowerPoint</Application>
  <PresentationFormat>Widescreen</PresentationFormat>
  <Paragraphs>314</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 Thuyết Trình</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Lê Văn Cảnh - 251A010219</cp:lastModifiedBy>
  <cp:revision>4</cp:revision>
  <dcterms:modified xsi:type="dcterms:W3CDTF">2026-09-27T11:07:16Z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2026-09-27T04:18:26Z</dcterms:created>
  <dc:creator>OpenAI</dc:creator>
  <dc:description/>
  <dc:language>en-US</dc:language>
  <cp:lastModifiedBy>OpenAI</cp:lastModifiedBy>
  <dcterms:modified xsi:type="dcterms:W3CDTF">2026-09-27T04:18:26Z</dcterms:modified>
  <cp:revision>1</cp:revision>
  <dc:subject>Báo cáo đồ án Joomla Trung tâm việc làm</dc:subject>
  <dc:title>Tìm hiểu CMS Joomla và thiết kế Website giới thiệu thông tin Trung tâm Giới thiệu việc làm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16</vt:r8>
  </property>
  <property fmtid="{D5CDD505-2E9C-101B-9397-08002B2CF9AE}" pid="3" name="PresentationFormat">
    <vt:lpwstr>On-screen Show (16:9)</vt:lpwstr>
  </property>
  <property fmtid="{D5CDD505-2E9C-101B-9397-08002B2CF9AE}" pid="4" name="Slides">
    <vt:r8>16</vt:r8>
  </property>
</Properties>
</file>